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379" r:id="rId2"/>
    <p:sldId id="394" r:id="rId3"/>
    <p:sldId id="401" r:id="rId4"/>
    <p:sldId id="423" r:id="rId5"/>
    <p:sldId id="441" r:id="rId6"/>
    <p:sldId id="445" r:id="rId7"/>
    <p:sldId id="443" r:id="rId8"/>
    <p:sldId id="446" r:id="rId9"/>
    <p:sldId id="444" r:id="rId10"/>
    <p:sldId id="426" r:id="rId11"/>
    <p:sldId id="438" r:id="rId12"/>
    <p:sldId id="432" r:id="rId13"/>
    <p:sldId id="433" r:id="rId14"/>
    <p:sldId id="439" r:id="rId15"/>
    <p:sldId id="400" r:id="rId16"/>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27BEB1-F393-C06D-BA6F-59B3ED5741E9}" v="1996" dt="2026-07-05T14:30:11.402"/>
    <p1510:client id="{55FB5B70-AF9F-6D40-1C08-4ED217AC6098}" v="21" dt="2026-07-06T16:20:44.898"/>
    <p1510:client id="{9F649D4D-8D97-B9C1-72F3-F9A3BD38C8E6}" v="64" dt="2026-07-06T04:12:35.3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6A973A30-4E8D-4F5A-A660-0CF9FA0EA0CF}" type="datetimeFigureOut">
              <a:rPr lang="en-IN" smtClean="0"/>
              <a:t>06-07-2026</a:t>
            </a:fld>
            <a:endParaRPr lang="en-IN"/>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7223E4C-C78F-4806-9F29-9550DE44BB40}" type="slidenum">
              <a:rPr lang="en-IN" smtClean="0"/>
              <a:t>‹#›</a:t>
            </a:fld>
            <a:endParaRPr lang="en-IN"/>
          </a:p>
        </p:txBody>
      </p:sp>
    </p:spTree>
    <p:extLst>
      <p:ext uri="{BB962C8B-B14F-4D97-AF65-F5344CB8AC3E}">
        <p14:creationId xmlns:p14="http://schemas.microsoft.com/office/powerpoint/2010/main" val="113801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7223E4C-C78F-4806-9F29-9550DE44BB40}" type="slidenum">
              <a:rPr lang="en-IN" smtClean="0"/>
              <a:t>12</a:t>
            </a:fld>
            <a:endParaRPr lang="en-IN"/>
          </a:p>
        </p:txBody>
      </p:sp>
    </p:spTree>
    <p:extLst>
      <p:ext uri="{BB962C8B-B14F-4D97-AF65-F5344CB8AC3E}">
        <p14:creationId xmlns:p14="http://schemas.microsoft.com/office/powerpoint/2010/main" val="3857590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7223E4C-C78F-4806-9F29-9550DE44BB40}" type="slidenum">
              <a:rPr lang="en-IN" smtClean="0"/>
              <a:t>13</a:t>
            </a:fld>
            <a:endParaRPr lang="en-IN"/>
          </a:p>
        </p:txBody>
      </p:sp>
    </p:spTree>
    <p:extLst>
      <p:ext uri="{BB962C8B-B14F-4D97-AF65-F5344CB8AC3E}">
        <p14:creationId xmlns:p14="http://schemas.microsoft.com/office/powerpoint/2010/main" val="1640690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526F6-5606-9A33-D5D8-767F719C7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046DD-DCA0-0A0D-CA77-0980415242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1893ABB-BFDA-CA4C-EE77-24A0D16AC12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DC0602-D33B-EAE9-F45F-62E9227B4573}"/>
              </a:ext>
            </a:extLst>
          </p:cNvPr>
          <p:cNvSpPr>
            <a:spLocks noGrp="1"/>
          </p:cNvSpPr>
          <p:nvPr>
            <p:ph type="sldNum" sz="quarter" idx="5"/>
          </p:nvPr>
        </p:nvSpPr>
        <p:spPr/>
        <p:txBody>
          <a:bodyPr/>
          <a:lstStyle/>
          <a:p>
            <a:fld id="{77223E4C-C78F-4806-9F29-9550DE44BB40}" type="slidenum">
              <a:rPr lang="en-IN" smtClean="0"/>
              <a:t>14</a:t>
            </a:fld>
            <a:endParaRPr lang="en-IN"/>
          </a:p>
        </p:txBody>
      </p:sp>
    </p:spTree>
    <p:extLst>
      <p:ext uri="{BB962C8B-B14F-4D97-AF65-F5344CB8AC3E}">
        <p14:creationId xmlns:p14="http://schemas.microsoft.com/office/powerpoint/2010/main" val="1454414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95310"/>
            <a:ext cx="9144000" cy="2387600"/>
          </a:xfrm>
        </p:spPr>
        <p:txBody>
          <a:bodyPr anchor="b"/>
          <a:lstStyle>
            <a:lvl1pPr algn="ctr">
              <a:defRPr sz="6000">
                <a:solidFill>
                  <a:srgbClr val="002060"/>
                </a:solidFill>
                <a:latin typeface="Bookman Old Style" panose="02050604050505020204" pitchFamily="18" charset="0"/>
              </a:defRPr>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3F99E61-0CE5-49A0-ADAE-575C3A21A57B}" type="datetime2">
              <a:rPr lang="en-IN" smtClean="0"/>
              <a:t>Monday, 06 July 2026</a:t>
            </a:fld>
            <a:endParaRPr lang="en-IN"/>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
        <p:nvSpPr>
          <p:cNvPr id="10" name="object 7"/>
          <p:cNvSpPr txBox="1"/>
          <p:nvPr userDrawn="1"/>
        </p:nvSpPr>
        <p:spPr>
          <a:xfrm>
            <a:off x="4541263" y="6344368"/>
            <a:ext cx="3498933" cy="377108"/>
          </a:xfrm>
          <a:prstGeom prst="rect">
            <a:avLst/>
          </a:prstGeom>
        </p:spPr>
        <p:txBody>
          <a:bodyPr wrap="square" lIns="0" tIns="7701" rIns="0" bIns="0">
            <a:spAutoFit/>
          </a:bodyPr>
          <a:lstStyle/>
          <a:p>
            <a:pPr marL="7701" algn="ctr">
              <a:spcBef>
                <a:spcPts val="61"/>
              </a:spcBef>
              <a:defRPr/>
            </a:pPr>
            <a:r>
              <a:rPr sz="2400" b="1" i="1" spc="-3">
                <a:solidFill>
                  <a:srgbClr val="422C75"/>
                </a:solidFill>
                <a:latin typeface="Bookman Old Style" panose="02050604050505020204" pitchFamily="18" charset="0"/>
                <a:ea typeface="ＭＳ Ｐゴシック" charset="0"/>
                <a:cs typeface="Playfair Display"/>
              </a:rPr>
              <a:t>Go, change </a:t>
            </a:r>
            <a:r>
              <a:rPr sz="2400" b="1" i="1">
                <a:solidFill>
                  <a:srgbClr val="422C75"/>
                </a:solidFill>
                <a:latin typeface="Bookman Old Style" panose="02050604050505020204" pitchFamily="18" charset="0"/>
                <a:ea typeface="ＭＳ Ｐゴシック" charset="0"/>
                <a:cs typeface="Playfair Display"/>
              </a:rPr>
              <a:t>the</a:t>
            </a:r>
            <a:r>
              <a:rPr sz="2400" b="1" i="1" spc="-49">
                <a:solidFill>
                  <a:srgbClr val="422C75"/>
                </a:solidFill>
                <a:latin typeface="Bookman Old Style" panose="02050604050505020204" pitchFamily="18" charset="0"/>
                <a:ea typeface="ＭＳ Ｐゴシック" charset="0"/>
                <a:cs typeface="Playfair Display"/>
              </a:rPr>
              <a:t> </a:t>
            </a:r>
            <a:r>
              <a:rPr sz="2400" b="1" i="1" spc="-3">
                <a:solidFill>
                  <a:srgbClr val="422C75"/>
                </a:solidFill>
                <a:latin typeface="Bookman Old Style" panose="02050604050505020204" pitchFamily="18" charset="0"/>
                <a:ea typeface="ＭＳ Ｐゴシック" charset="0"/>
                <a:cs typeface="Playfair Display"/>
              </a:rPr>
              <a:t>world</a:t>
            </a:r>
            <a:endParaRPr sz="2400" b="1">
              <a:latin typeface="Bookman Old Style" panose="02050604050505020204" pitchFamily="18" charset="0"/>
              <a:ea typeface="ＭＳ Ｐゴシック" charset="0"/>
              <a:cs typeface="Playfair Display"/>
            </a:endParaRPr>
          </a:p>
        </p:txBody>
      </p:sp>
      <p:pic>
        <p:nvPicPr>
          <p:cNvPr id="13" name="Picture 12">
            <a:extLst>
              <a:ext uri="{FF2B5EF4-FFF2-40B4-BE49-F238E27FC236}">
                <a16:creationId xmlns:a16="http://schemas.microsoft.com/office/drawing/2014/main" id="{432A6D4B-382C-5C68-3C64-26E14200A155}"/>
              </a:ext>
            </a:extLst>
          </p:cNvPr>
          <p:cNvPicPr>
            <a:picLocks noChangeAspect="1"/>
          </p:cNvPicPr>
          <p:nvPr userDrawn="1"/>
        </p:nvPicPr>
        <p:blipFill rotWithShape="1">
          <a:blip r:embed="rId2"/>
          <a:srcRect t="13833"/>
          <a:stretch/>
        </p:blipFill>
        <p:spPr>
          <a:xfrm>
            <a:off x="0" y="0"/>
            <a:ext cx="2207505" cy="997630"/>
          </a:xfrm>
          <a:prstGeom prst="rect">
            <a:avLst/>
          </a:prstGeom>
        </p:spPr>
      </p:pic>
    </p:spTree>
    <p:extLst>
      <p:ext uri="{BB962C8B-B14F-4D97-AF65-F5344CB8AC3E}">
        <p14:creationId xmlns:p14="http://schemas.microsoft.com/office/powerpoint/2010/main" val="415953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13" y="1258282"/>
            <a:ext cx="11842377" cy="4918680"/>
          </a:xfrm>
          <a:ln>
            <a:noFill/>
          </a:ln>
        </p:spPr>
        <p:txBody>
          <a:bodyPr/>
          <a:lstStyle>
            <a:lvl1pPr>
              <a:defRPr>
                <a:solidFill>
                  <a:srgbClr val="002060"/>
                </a:solidFill>
                <a:latin typeface="Bookman Old Style" panose="02050604050505020204" pitchFamily="18" charset="0"/>
              </a:defRPr>
            </a:lvl1pPr>
            <a:lvl2pPr>
              <a:defRPr>
                <a:latin typeface="Bookman Old Style" panose="02050604050505020204" pitchFamily="18" charset="0"/>
              </a:defRPr>
            </a:lvl2pPr>
            <a:lvl3pPr>
              <a:defRPr>
                <a:solidFill>
                  <a:srgbClr val="002060"/>
                </a:solidFill>
                <a:latin typeface="Bookman Old Style" panose="02050604050505020204" pitchFamily="18" charset="0"/>
              </a:defRPr>
            </a:lvl3pPr>
            <a:lvl4pPr>
              <a:defRPr>
                <a:solidFill>
                  <a:srgbClr val="002060"/>
                </a:solidFill>
                <a:latin typeface="Bookman Old Style" panose="02050604050505020204" pitchFamily="18" charset="0"/>
              </a:defRPr>
            </a:lvl4pPr>
            <a:lvl5pPr>
              <a:defRPr>
                <a:solidFill>
                  <a:srgbClr val="002060"/>
                </a:solidFill>
                <a:latin typeface="Bookman Old Style" panose="0205060405050502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object 7"/>
          <p:cNvSpPr txBox="1"/>
          <p:nvPr userDrawn="1"/>
        </p:nvSpPr>
        <p:spPr>
          <a:xfrm>
            <a:off x="5055596" y="6405140"/>
            <a:ext cx="2080806"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sp>
        <p:nvSpPr>
          <p:cNvPr id="9" name="Date Placeholder 8"/>
          <p:cNvSpPr>
            <a:spLocks noGrp="1"/>
          </p:cNvSpPr>
          <p:nvPr>
            <p:ph type="dt" sz="half" idx="10"/>
          </p:nvPr>
        </p:nvSpPr>
        <p:spPr>
          <a:xfrm>
            <a:off x="174812" y="6347205"/>
            <a:ext cx="2743200" cy="365125"/>
          </a:xfrm>
        </p:spPr>
        <p:txBody>
          <a:bodyPr/>
          <a:lstStyle>
            <a:lvl1pPr>
              <a:defRPr b="1">
                <a:solidFill>
                  <a:srgbClr val="002060"/>
                </a:solidFill>
                <a:latin typeface="Bookman Old Style" panose="02050604050505020204" pitchFamily="18" charset="0"/>
              </a:defRPr>
            </a:lvl1pPr>
          </a:lstStyle>
          <a:p>
            <a:pPr algn="ctr"/>
            <a:fld id="{6BA3F8B8-C75C-44FF-9C37-B9B69285372F}" type="datetime2">
              <a:rPr lang="en-IN" smtClean="0"/>
              <a:t>Monday, 06 July 2026</a:t>
            </a:fld>
            <a:endParaRPr lang="en-IN"/>
          </a:p>
        </p:txBody>
      </p:sp>
      <p:sp>
        <p:nvSpPr>
          <p:cNvPr id="16" name="Slide Number Placeholder 15"/>
          <p:cNvSpPr>
            <a:spLocks noGrp="1"/>
          </p:cNvSpPr>
          <p:nvPr>
            <p:ph type="sldNum" sz="quarter" idx="12"/>
          </p:nvPr>
        </p:nvSpPr>
        <p:spPr>
          <a:xfrm>
            <a:off x="9273988" y="6347205"/>
            <a:ext cx="2743200" cy="365125"/>
          </a:xfrm>
        </p:spPr>
        <p:txBody>
          <a:bodyPr/>
          <a:lstStyle>
            <a:lvl1pPr>
              <a:defRPr b="1">
                <a:solidFill>
                  <a:srgbClr val="002060"/>
                </a:solidFill>
                <a:latin typeface="Bookman Old Style" panose="02050604050505020204" pitchFamily="18" charset="0"/>
              </a:defRPr>
            </a:lvl1pPr>
          </a:lstStyle>
          <a:p>
            <a:fld id="{9BA15CD2-76D6-4EFE-91D9-7087332E3318}" type="slidenum">
              <a:rPr lang="en-IN" smtClean="0"/>
              <a:pPr/>
              <a:t>‹#›</a:t>
            </a:fld>
            <a:endParaRPr lang="en-IN"/>
          </a:p>
        </p:txBody>
      </p:sp>
      <p:pic>
        <p:nvPicPr>
          <p:cNvPr id="5" name="Picture 4">
            <a:extLst>
              <a:ext uri="{FF2B5EF4-FFF2-40B4-BE49-F238E27FC236}">
                <a16:creationId xmlns:a16="http://schemas.microsoft.com/office/drawing/2014/main" id="{F054BB44-0752-FBF4-85E9-6BB716BF441F}"/>
              </a:ext>
            </a:extLst>
          </p:cNvPr>
          <p:cNvPicPr>
            <a:picLocks noChangeAspect="1"/>
          </p:cNvPicPr>
          <p:nvPr userDrawn="1"/>
        </p:nvPicPr>
        <p:blipFill rotWithShape="1">
          <a:blip r:embed="rId2"/>
          <a:srcRect t="13833"/>
          <a:stretch/>
        </p:blipFill>
        <p:spPr>
          <a:xfrm>
            <a:off x="-1" y="76427"/>
            <a:ext cx="2207505" cy="997630"/>
          </a:xfrm>
          <a:prstGeom prst="rect">
            <a:avLst/>
          </a:prstGeom>
        </p:spPr>
      </p:pic>
    </p:spTree>
    <p:extLst>
      <p:ext uri="{BB962C8B-B14F-4D97-AF65-F5344CB8AC3E}">
        <p14:creationId xmlns:p14="http://schemas.microsoft.com/office/powerpoint/2010/main" val="127364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8942" y="1258282"/>
            <a:ext cx="5750859" cy="49186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2" y="1258280"/>
            <a:ext cx="5795682" cy="49186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268940" y="6356350"/>
            <a:ext cx="2743200" cy="365125"/>
          </a:xfrm>
        </p:spPr>
        <p:txBody>
          <a:bodyPr/>
          <a:lstStyle/>
          <a:p>
            <a:fld id="{1B8ABF7C-0B56-4C7F-B575-109DA1438369}" type="datetime2">
              <a:rPr lang="en-IN" smtClean="0"/>
              <a:t>Monday, 06 July 2026</a:t>
            </a:fld>
            <a:endParaRPr lang="en-IN"/>
          </a:p>
        </p:txBody>
      </p:sp>
      <p:sp>
        <p:nvSpPr>
          <p:cNvPr id="7" name="Slide Number Placeholder 6"/>
          <p:cNvSpPr>
            <a:spLocks noGrp="1"/>
          </p:cNvSpPr>
          <p:nvPr>
            <p:ph type="sldNum" sz="quarter" idx="12"/>
          </p:nvPr>
        </p:nvSpPr>
        <p:spPr>
          <a:xfrm>
            <a:off x="9224683" y="6356350"/>
            <a:ext cx="2743200" cy="365125"/>
          </a:xfrm>
        </p:spPr>
        <p:txBody>
          <a:bodyPr/>
          <a:lstStyle/>
          <a:p>
            <a:fld id="{9BA15CD2-76D6-4EFE-91D9-7087332E3318}" type="slidenum">
              <a:rPr lang="en-IN" smtClean="0"/>
              <a:t>‹#›</a:t>
            </a:fld>
            <a:endParaRPr lang="en-IN"/>
          </a:p>
        </p:txBody>
      </p:sp>
      <p:grpSp>
        <p:nvGrpSpPr>
          <p:cNvPr id="12" name="Group 11"/>
          <p:cNvGrpSpPr/>
          <p:nvPr userDrawn="1"/>
        </p:nvGrpSpPr>
        <p:grpSpPr>
          <a:xfrm>
            <a:off x="4862837" y="6212514"/>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grpSp>
      <p:pic>
        <p:nvPicPr>
          <p:cNvPr id="2" name="Picture 1">
            <a:extLst>
              <a:ext uri="{FF2B5EF4-FFF2-40B4-BE49-F238E27FC236}">
                <a16:creationId xmlns:a16="http://schemas.microsoft.com/office/drawing/2014/main" id="{D279472C-35DE-C259-8137-352893A9BE1E}"/>
              </a:ext>
            </a:extLst>
          </p:cNvPr>
          <p:cNvPicPr>
            <a:picLocks noChangeAspect="1"/>
          </p:cNvPicPr>
          <p:nvPr userDrawn="1"/>
        </p:nvPicPr>
        <p:blipFill rotWithShape="1">
          <a:blip r:embed="rId2"/>
          <a:srcRect t="13833"/>
          <a:stretch/>
        </p:blipFill>
        <p:spPr>
          <a:xfrm>
            <a:off x="224117" y="81266"/>
            <a:ext cx="2207505" cy="997630"/>
          </a:xfrm>
          <a:prstGeom prst="rect">
            <a:avLst/>
          </a:prstGeom>
        </p:spPr>
      </p:pic>
    </p:spTree>
    <p:extLst>
      <p:ext uri="{BB962C8B-B14F-4D97-AF65-F5344CB8AC3E}">
        <p14:creationId xmlns:p14="http://schemas.microsoft.com/office/powerpoint/2010/main" val="115310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normAutofit/>
          </a:bodyPr>
          <a:lstStyle>
            <a:lvl1pPr>
              <a:defRPr sz="5400">
                <a:solidFill>
                  <a:srgbClr val="C00000"/>
                </a:solidFill>
                <a:latin typeface="Bookman Old Style" panose="02050604050505020204" pitchFamily="18" charset="0"/>
              </a:defRPr>
            </a:lvl1pPr>
          </a:lstStyle>
          <a:p>
            <a:r>
              <a:rPr lang="en-US"/>
              <a:t>Click to edit Master title style</a:t>
            </a:r>
            <a:endParaRPr lang="en-IN"/>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rgbClr val="002060"/>
                </a:solidFill>
                <a:latin typeface="Bookman Old Style" panose="020506040505050202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121CB2-2EF3-47E5-83C4-07D8FF657D5A}" type="datetime2">
              <a:rPr lang="en-IN" smtClean="0"/>
              <a:t>Monday, 06 July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grpSp>
        <p:nvGrpSpPr>
          <p:cNvPr id="12" name="Group 11"/>
          <p:cNvGrpSpPr/>
          <p:nvPr userDrawn="1"/>
        </p:nvGrpSpPr>
        <p:grpSpPr>
          <a:xfrm>
            <a:off x="9842217" y="17838"/>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72407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userDrawn="1"/>
        </p:nvGrpSpPr>
        <p:grpSpPr>
          <a:xfrm>
            <a:off x="-35002" y="0"/>
            <a:ext cx="12191145" cy="6858000"/>
            <a:chOff x="-35003" y="-1"/>
            <a:chExt cx="12191144" cy="6858000"/>
          </a:xfrm>
        </p:grpSpPr>
        <p:sp>
          <p:nvSpPr>
            <p:cNvPr id="11" name="Rectangle 10"/>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a:solidFill>
                  <a:srgbClr val="FFFFFF"/>
                </a:solidFill>
              </a:endParaRPr>
            </a:p>
          </p:txBody>
        </p:sp>
        <p:grpSp>
          <p:nvGrpSpPr>
            <p:cNvPr id="12" name="Group 11"/>
            <p:cNvGrpSpPr/>
            <p:nvPr userDrawn="1"/>
          </p:nvGrpSpPr>
          <p:grpSpPr>
            <a:xfrm>
              <a:off x="0" y="-1"/>
              <a:ext cx="1174375" cy="932329"/>
              <a:chOff x="1" y="0"/>
              <a:chExt cx="995082" cy="663388"/>
            </a:xfrm>
          </p:grpSpPr>
          <p:sp>
            <p:nvSpPr>
              <p:cNvPr id="13"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4"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E72AF35-25D4-42D1-A380-D94D58C90ED6}" type="datetime2">
              <a:rPr lang="en-IN" smtClean="0"/>
              <a:t>Monday, 06 July 2026</a:t>
            </a:fld>
            <a:endParaRPr lang="en-IN"/>
          </a:p>
        </p:txBody>
      </p:sp>
      <p:sp>
        <p:nvSpPr>
          <p:cNvPr id="8" name="Footer Placeholder 7"/>
          <p:cNvSpPr>
            <a:spLocks noGrp="1"/>
          </p:cNvSpPr>
          <p:nvPr>
            <p:ph type="ftr" sz="quarter" idx="11"/>
          </p:nvPr>
        </p:nvSpPr>
        <p:spPr/>
        <p:txBody>
          <a:bodyPr/>
          <a:lstStyle>
            <a:lvl1pPr>
              <a:defRPr b="1">
                <a:solidFill>
                  <a:srgbClr val="C00000"/>
                </a:solidFill>
                <a:latin typeface="Bookman Old Style" panose="02050604050505020204" pitchFamily="18" charset="0"/>
              </a:defRPr>
            </a:lvl1pPr>
          </a:lstStyle>
          <a:p>
            <a:r>
              <a:rPr lang="en-GB"/>
              <a:t>RV COLLEGE OF ENGINEERING</a:t>
            </a:r>
            <a:endParaRPr lang="en-IN"/>
          </a:p>
        </p:txBody>
      </p:sp>
      <p:sp>
        <p:nvSpPr>
          <p:cNvPr id="9" name="Slide Number Placeholder 8"/>
          <p:cNvSpPr>
            <a:spLocks noGrp="1"/>
          </p:cNvSpPr>
          <p:nvPr>
            <p:ph type="sldNum" sz="quarter" idx="12"/>
          </p:nvPr>
        </p:nvSpPr>
        <p:spPr/>
        <p:txBody>
          <a:bodyPr/>
          <a:lstStyle/>
          <a:p>
            <a:fld id="{9BA15CD2-76D6-4EFE-91D9-7087332E3318}" type="slidenum">
              <a:rPr lang="en-IN" smtClean="0"/>
              <a:t>‹#›</a:t>
            </a:fld>
            <a:endParaRPr lang="en-IN"/>
          </a:p>
        </p:txBody>
      </p:sp>
      <p:grpSp>
        <p:nvGrpSpPr>
          <p:cNvPr id="15" name="Group 14"/>
          <p:cNvGrpSpPr/>
          <p:nvPr userDrawn="1"/>
        </p:nvGrpSpPr>
        <p:grpSpPr>
          <a:xfrm>
            <a:off x="9842217" y="17838"/>
            <a:ext cx="2313924" cy="600635"/>
            <a:chOff x="9682912" y="8965"/>
            <a:chExt cx="2402541" cy="600635"/>
          </a:xfrm>
        </p:grpSpPr>
        <p:sp>
          <p:nvSpPr>
            <p:cNvPr id="16" name="Rounded Rectangle 15"/>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17"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219238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0974DEC-F31F-442A-AF7E-39FCF65F09EF}" type="datetime2">
              <a:rPr lang="en-IN" smtClean="0"/>
              <a:t>Monday, 06 July 2026</a:t>
            </a:fld>
            <a:endParaRPr lang="en-IN"/>
          </a:p>
        </p:txBody>
      </p:sp>
      <p:sp>
        <p:nvSpPr>
          <p:cNvPr id="4" name="Footer Placeholder 3"/>
          <p:cNvSpPr>
            <a:spLocks noGrp="1"/>
          </p:cNvSpPr>
          <p:nvPr>
            <p:ph type="ftr" sz="quarter" idx="11"/>
          </p:nvPr>
        </p:nvSpPr>
        <p:spPr/>
        <p:txBody>
          <a:bodyPr/>
          <a:lstStyle/>
          <a:p>
            <a:r>
              <a:rPr lang="en-IN"/>
              <a:t>RV COLLEGE OF ENGINEERING</a:t>
            </a:r>
          </a:p>
        </p:txBody>
      </p:sp>
      <p:sp>
        <p:nvSpPr>
          <p:cNvPr id="5" name="Slide Number Placeholder 4"/>
          <p:cNvSpPr>
            <a:spLocks noGrp="1"/>
          </p:cNvSpPr>
          <p:nvPr>
            <p:ph type="sldNum" sz="quarter" idx="12"/>
          </p:nvPr>
        </p:nvSpPr>
        <p:spPr/>
        <p:txBody>
          <a:bodyPr/>
          <a:lstStyle/>
          <a:p>
            <a:fld id="{9BA15CD2-76D6-4EFE-91D9-7087332E3318}" type="slidenum">
              <a:rPr lang="en-IN" smtClean="0"/>
              <a:t>‹#›</a:t>
            </a:fld>
            <a:endParaRPr lang="en-IN"/>
          </a:p>
        </p:txBody>
      </p:sp>
      <p:grpSp>
        <p:nvGrpSpPr>
          <p:cNvPr id="7" name="Group 6"/>
          <p:cNvGrpSpPr/>
          <p:nvPr userDrawn="1"/>
        </p:nvGrpSpPr>
        <p:grpSpPr>
          <a:xfrm>
            <a:off x="0" y="1"/>
            <a:ext cx="1174375" cy="932329"/>
            <a:chOff x="1" y="0"/>
            <a:chExt cx="995082" cy="663388"/>
          </a:xfrm>
        </p:grpSpPr>
        <p:sp>
          <p:nvSpPr>
            <p:cNvPr id="8"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9"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nvGrpSpPr>
          <p:cNvPr id="10" name="Group 9"/>
          <p:cNvGrpSpPr/>
          <p:nvPr userDrawn="1"/>
        </p:nvGrpSpPr>
        <p:grpSpPr>
          <a:xfrm>
            <a:off x="9842217" y="17838"/>
            <a:ext cx="2313924" cy="600635"/>
            <a:chOff x="9682912" y="8965"/>
            <a:chExt cx="2402541" cy="600635"/>
          </a:xfrm>
        </p:grpSpPr>
        <p:sp>
          <p:nvSpPr>
            <p:cNvPr id="11" name="Rounded Rectangle 10"/>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12"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44950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a:solidFill>
                <a:srgbClr val="FFFFFF"/>
              </a:solidFill>
            </a:endParaRPr>
          </a:p>
        </p:txBody>
      </p:sp>
      <p:sp>
        <p:nvSpPr>
          <p:cNvPr id="2" name="Date Placeholder 1"/>
          <p:cNvSpPr>
            <a:spLocks noGrp="1"/>
          </p:cNvSpPr>
          <p:nvPr>
            <p:ph type="dt" sz="half" idx="10"/>
          </p:nvPr>
        </p:nvSpPr>
        <p:spPr/>
        <p:txBody>
          <a:bodyPr/>
          <a:lstStyle/>
          <a:p>
            <a:fld id="{664BAEB3-0664-49E1-9FE0-BA29E4444757}" type="datetime2">
              <a:rPr lang="en-IN" smtClean="0"/>
              <a:t>Monday, 06 July 2026</a:t>
            </a:fld>
            <a:endParaRPr lang="en-IN"/>
          </a:p>
        </p:txBody>
      </p:sp>
      <p:sp>
        <p:nvSpPr>
          <p:cNvPr id="3" name="Footer Placeholder 2"/>
          <p:cNvSpPr>
            <a:spLocks noGrp="1"/>
          </p:cNvSpPr>
          <p:nvPr>
            <p:ph type="ftr" sz="quarter" idx="11"/>
          </p:nvPr>
        </p:nvSpPr>
        <p:spPr/>
        <p:txBody>
          <a:bodyPr/>
          <a:lstStyle/>
          <a:p>
            <a:r>
              <a:rPr lang="en-IN"/>
              <a:t>RV COLLEGE OF ENGINEERING</a:t>
            </a:r>
          </a:p>
        </p:txBody>
      </p:sp>
      <p:sp>
        <p:nvSpPr>
          <p:cNvPr id="4" name="Slide Number Placeholder 3"/>
          <p:cNvSpPr>
            <a:spLocks noGrp="1"/>
          </p:cNvSpPr>
          <p:nvPr>
            <p:ph type="sldNum" sz="quarter" idx="12"/>
          </p:nvPr>
        </p:nvSpPr>
        <p:spPr/>
        <p:txBody>
          <a:bodyPr/>
          <a:lstStyle/>
          <a:p>
            <a:fld id="{9BA15CD2-76D6-4EFE-91D9-7087332E3318}" type="slidenum">
              <a:rPr lang="en-IN" smtClean="0"/>
              <a:t>‹#›</a:t>
            </a:fld>
            <a:endParaRPr lang="en-IN"/>
          </a:p>
        </p:txBody>
      </p:sp>
      <p:grpSp>
        <p:nvGrpSpPr>
          <p:cNvPr id="6" name="Group 5"/>
          <p:cNvGrpSpPr/>
          <p:nvPr userDrawn="1"/>
        </p:nvGrpSpPr>
        <p:grpSpPr>
          <a:xfrm>
            <a:off x="9842217" y="17838"/>
            <a:ext cx="2313924" cy="600635"/>
            <a:chOff x="9682912" y="8965"/>
            <a:chExt cx="2402541" cy="600635"/>
          </a:xfrm>
        </p:grpSpPr>
        <p:sp>
          <p:nvSpPr>
            <p:cNvPr id="7" name="Rounded Rectangle 6"/>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8"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grpSp>
      <p:grpSp>
        <p:nvGrpSpPr>
          <p:cNvPr id="9" name="Group 8"/>
          <p:cNvGrpSpPr/>
          <p:nvPr userDrawn="1"/>
        </p:nvGrpSpPr>
        <p:grpSpPr>
          <a:xfrm>
            <a:off x="0" y="1"/>
            <a:ext cx="1174375" cy="932329"/>
            <a:chOff x="1" y="0"/>
            <a:chExt cx="995082" cy="663388"/>
          </a:xfrm>
        </p:grpSpPr>
        <p:sp>
          <p:nvSpPr>
            <p:cNvPr id="10"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1"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339075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userDrawn="1"/>
        </p:nvGrpSpPr>
        <p:grpSpPr>
          <a:xfrm>
            <a:off x="-35002" y="0"/>
            <a:ext cx="12191145" cy="6858000"/>
            <a:chOff x="-35003" y="-1"/>
            <a:chExt cx="12191144" cy="6858000"/>
          </a:xfrm>
        </p:grpSpPr>
        <p:sp>
          <p:nvSpPr>
            <p:cNvPr id="9" name="Rectangle 8"/>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a:solidFill>
                  <a:srgbClr val="FFFFFF"/>
                </a:solidFill>
              </a:endParaRPr>
            </a:p>
          </p:txBody>
        </p:sp>
        <p:grpSp>
          <p:nvGrpSpPr>
            <p:cNvPr id="10" name="Group 9"/>
            <p:cNvGrpSpPr/>
            <p:nvPr userDrawn="1"/>
          </p:nvGrpSpPr>
          <p:grpSpPr>
            <a:xfrm>
              <a:off x="0" y="-1"/>
              <a:ext cx="1174375" cy="932329"/>
              <a:chOff x="1" y="0"/>
              <a:chExt cx="995082" cy="663388"/>
            </a:xfrm>
          </p:grpSpPr>
          <p:sp>
            <p:nvSpPr>
              <p:cNvPr id="11"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2"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F77AC3-F117-417D-9C17-587E6F3BE300}" type="datetime2">
              <a:rPr lang="en-IN" smtClean="0"/>
              <a:t>Monday, 06 July 2026</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grpSp>
        <p:nvGrpSpPr>
          <p:cNvPr id="13" name="Group 12"/>
          <p:cNvGrpSpPr/>
          <p:nvPr userDrawn="1"/>
        </p:nvGrpSpPr>
        <p:grpSpPr>
          <a:xfrm>
            <a:off x="9842217" y="17838"/>
            <a:ext cx="2313924" cy="600635"/>
            <a:chOff x="9682912" y="8965"/>
            <a:chExt cx="2402541" cy="600635"/>
          </a:xfrm>
        </p:grpSpPr>
        <p:sp>
          <p:nvSpPr>
            <p:cNvPr id="14" name="Rounded Rectangle 13"/>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15"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a:solidFill>
                    <a:srgbClr val="422C75"/>
                  </a:solidFill>
                  <a:latin typeface="Bookman Old Style" panose="02050604050505020204" pitchFamily="18" charset="0"/>
                  <a:ea typeface="ＭＳ Ｐゴシック" charset="0"/>
                  <a:cs typeface="Playfair Display"/>
                </a:rPr>
                <a:t>Go, change </a:t>
              </a:r>
              <a:r>
                <a:rPr sz="1400" b="1" i="1">
                  <a:solidFill>
                    <a:srgbClr val="422C75"/>
                  </a:solidFill>
                  <a:latin typeface="Bookman Old Style" panose="02050604050505020204" pitchFamily="18" charset="0"/>
                  <a:ea typeface="ＭＳ Ｐゴシック" charset="0"/>
                  <a:cs typeface="Playfair Display"/>
                </a:rPr>
                <a:t>the</a:t>
              </a:r>
              <a:r>
                <a:rPr sz="1400" b="1" i="1" spc="-49">
                  <a:solidFill>
                    <a:srgbClr val="422C75"/>
                  </a:solidFill>
                  <a:latin typeface="Bookman Old Style" panose="02050604050505020204" pitchFamily="18" charset="0"/>
                  <a:ea typeface="ＭＳ Ｐゴシック" charset="0"/>
                  <a:cs typeface="Playfair Display"/>
                </a:rPr>
                <a:t> </a:t>
              </a:r>
              <a:r>
                <a:rPr sz="1400" b="1" i="1" spc="-3">
                  <a:solidFill>
                    <a:srgbClr val="422C75"/>
                  </a:solidFill>
                  <a:latin typeface="Bookman Old Style" panose="02050604050505020204" pitchFamily="18" charset="0"/>
                  <a:ea typeface="ＭＳ Ｐゴシック" charset="0"/>
                  <a:cs typeface="Playfair Display"/>
                </a:rPr>
                <a:t>world</a:t>
              </a:r>
              <a:endParaRPr sz="1400" b="1">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98668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51A392-D277-4C60-80CA-4155BF24A22F}" type="datetime2">
              <a:rPr lang="en-IN" smtClean="0"/>
              <a:t>Monday, 06 July 2026</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7150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57930-B2AB-48F5-8AD5-4A9179262E34}" type="datetime2">
              <a:rPr lang="en-IN" smtClean="0"/>
              <a:t>Monday, 06 July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3216580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20EB2B-9CFC-43E8-806F-531A6B6EF1FD}" type="datetime2">
              <a:rPr lang="en-IN" smtClean="0"/>
              <a:t>Monday, 06 July 2026</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121640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0449F-E26E-4CC2-B153-3EB375A0CF11}" type="datetime2">
              <a:rPr lang="en-IN" smtClean="0"/>
              <a:t>Monday, 06 July 2026</a:t>
            </a:fld>
            <a:endParaRPr lang="en-IN"/>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RV COLLEGE OF ENGINEERING</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15CD2-76D6-4EFE-91D9-7087332E3318}" type="slidenum">
              <a:rPr lang="en-IN" smtClean="0"/>
              <a:t>‹#›</a:t>
            </a:fld>
            <a:endParaRPr lang="en-IN"/>
          </a:p>
        </p:txBody>
      </p:sp>
    </p:spTree>
    <p:extLst>
      <p:ext uri="{BB962C8B-B14F-4D97-AF65-F5344CB8AC3E}">
        <p14:creationId xmlns:p14="http://schemas.microsoft.com/office/powerpoint/2010/main" val="362659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hyperlink" Target="https://ieeexplore.ieee.org/document/9988844" TargetMode="External"/><Relationship Id="rId3" Type="http://schemas.openxmlformats.org/officeDocument/2006/relationships/hyperlink" Target="https://ieeexplore.ieee.org/document/9856595/authors#authors" TargetMode="External"/><Relationship Id="rId7" Type="http://schemas.openxmlformats.org/officeDocument/2006/relationships/hyperlink" Target="https://docs.nrel.gov/docs/fy25osti/92155.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ieeexplore.ieee.org/document/9502889" TargetMode="External"/><Relationship Id="rId5" Type="http://schemas.openxmlformats.org/officeDocument/2006/relationships/hyperlink" Target="https://www.osti.gov/servlets/purl/1596204" TargetMode="External"/><Relationship Id="rId10" Type="http://schemas.openxmlformats.org/officeDocument/2006/relationships/image" Target="../media/image6.png"/><Relationship Id="rId4" Type="http://schemas.openxmlformats.org/officeDocument/2006/relationships/hyperlink" Target="https://ieeexplore.ieee.org/document/9384220" TargetMode="External"/><Relationship Id="rId9"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9311E5-35F6-67F8-BA96-85A5A20D3355}"/>
              </a:ext>
            </a:extLst>
          </p:cNvPr>
          <p:cNvSpPr>
            <a:spLocks noGrp="1"/>
          </p:cNvSpPr>
          <p:nvPr>
            <p:ph type="sldNum" sz="quarter" idx="12"/>
          </p:nvPr>
        </p:nvSpPr>
        <p:spPr/>
        <p:txBody>
          <a:bodyPr/>
          <a:lstStyle/>
          <a:p>
            <a:fld id="{9BA15CD2-76D6-4EFE-91D9-7087332E3318}" type="slidenum">
              <a:rPr lang="en-IN" smtClean="0"/>
              <a:pPr/>
              <a:t>1</a:t>
            </a:fld>
            <a:endParaRPr lang="en-IN"/>
          </a:p>
        </p:txBody>
      </p:sp>
      <p:sp>
        <p:nvSpPr>
          <p:cNvPr id="2" name="Rectangle: Rounded Corners 1">
            <a:extLst>
              <a:ext uri="{FF2B5EF4-FFF2-40B4-BE49-F238E27FC236}">
                <a16:creationId xmlns:a16="http://schemas.microsoft.com/office/drawing/2014/main" id="{47401447-E36D-D6F9-70CD-9802DA9AD004}"/>
              </a:ext>
            </a:extLst>
          </p:cNvPr>
          <p:cNvSpPr/>
          <p:nvPr/>
        </p:nvSpPr>
        <p:spPr>
          <a:xfrm>
            <a:off x="385463" y="4230815"/>
            <a:ext cx="11421075" cy="1004814"/>
          </a:xfrm>
          <a:prstGeom prst="roundRect">
            <a:avLst>
              <a:gd name="adj" fmla="val 16667"/>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ltLang="en-US" sz="2800" b="1" baseline="0">
                <a:solidFill>
                  <a:schemeClr val="bg1"/>
                </a:solidFill>
                <a:latin typeface="Times New Roman" panose="02020603050405020304" pitchFamily="18" charset="0"/>
                <a:cs typeface="Times New Roman" panose="02020603050405020304" pitchFamily="18" charset="0"/>
              </a:rPr>
              <a:t>Smart Sort </a:t>
            </a:r>
            <a:r>
              <a:rPr lang="en-GB" altLang="en-US" sz="2400" b="1" baseline="0">
                <a:solidFill>
                  <a:schemeClr val="bg1"/>
                </a:solidFill>
                <a:latin typeface="Times New Roman" panose="02020603050405020304" pitchFamily="18" charset="0"/>
                <a:cs typeface="Times New Roman" panose="02020603050405020304" pitchFamily="18" charset="0"/>
              </a:rPr>
              <a:t>:</a:t>
            </a:r>
            <a:r>
              <a:rPr lang="en-IN" sz="2400">
                <a:latin typeface="Times New Roman" panose="02020603050405020304" pitchFamily="18" charset="0"/>
                <a:cs typeface="Times New Roman" panose="02020603050405020304" pitchFamily="18" charset="0"/>
              </a:rPr>
              <a:t>Edge-AI Powered Rapid Grading System for Second-Life</a:t>
            </a:r>
          </a:p>
          <a:p>
            <a:pPr algn="ctr">
              <a:defRPr/>
            </a:pPr>
            <a:r>
              <a:rPr lang="en-IN" sz="2400">
                <a:latin typeface="Times New Roman" panose="02020603050405020304" pitchFamily="18" charset="0"/>
                <a:cs typeface="Times New Roman" panose="02020603050405020304" pitchFamily="18" charset="0"/>
              </a:rPr>
              <a:t> Li-ion Cells</a:t>
            </a:r>
          </a:p>
        </p:txBody>
      </p:sp>
      <p:sp>
        <p:nvSpPr>
          <p:cNvPr id="5" name="Rectangle: Rounded Corners 4">
            <a:extLst>
              <a:ext uri="{FF2B5EF4-FFF2-40B4-BE49-F238E27FC236}">
                <a16:creationId xmlns:a16="http://schemas.microsoft.com/office/drawing/2014/main" id="{2E49E1EB-59AB-C0C7-9FA4-FC809A9DB13F}"/>
              </a:ext>
            </a:extLst>
          </p:cNvPr>
          <p:cNvSpPr/>
          <p:nvPr/>
        </p:nvSpPr>
        <p:spPr>
          <a:xfrm>
            <a:off x="385463" y="5346582"/>
            <a:ext cx="11421075" cy="10048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GB" altLang="en-US" sz="3600" b="1" baseline="0">
                <a:solidFill>
                  <a:schemeClr val="bg1"/>
                </a:solidFill>
                <a:latin typeface="Times New Roman"/>
                <a:cs typeface="Times New Roman"/>
              </a:rPr>
              <a:t>Renewable </a:t>
            </a:r>
            <a:r>
              <a:rPr lang="en-GB" altLang="en-US" sz="3600" b="1">
                <a:solidFill>
                  <a:schemeClr val="bg1"/>
                </a:solidFill>
                <a:latin typeface="Times New Roman"/>
                <a:cs typeface="Times New Roman"/>
              </a:rPr>
              <a:t>Energy- 20</a:t>
            </a:r>
            <a:r>
              <a:rPr lang="en-GB" altLang="en-US" sz="3600" b="1" baseline="0">
                <a:solidFill>
                  <a:schemeClr val="bg1"/>
                </a:solidFill>
                <a:latin typeface="Times New Roman"/>
                <a:cs typeface="Times New Roman"/>
              </a:rPr>
              <a:t>  </a:t>
            </a:r>
          </a:p>
        </p:txBody>
      </p:sp>
      <p:pic>
        <p:nvPicPr>
          <p:cNvPr id="6" name="Picture 5">
            <a:extLst>
              <a:ext uri="{FF2B5EF4-FFF2-40B4-BE49-F238E27FC236}">
                <a16:creationId xmlns:a16="http://schemas.microsoft.com/office/drawing/2014/main" id="{04110F7B-4187-B0B3-EBBC-EBCB68E6E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Content Placeholder 6" descr="A building with a roof&#10;&#10;Description automatically generated">
            <a:extLst>
              <a:ext uri="{FF2B5EF4-FFF2-40B4-BE49-F238E27FC236}">
                <a16:creationId xmlns:a16="http://schemas.microsoft.com/office/drawing/2014/main" id="{4FFF1151-EB75-7914-B2AB-B16B6A020701}"/>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t="425" b="1"/>
          <a:stretch>
            <a:fillRect/>
          </a:stretch>
        </p:blipFill>
        <p:spPr bwMode="auto">
          <a:xfrm>
            <a:off x="385463" y="1078569"/>
            <a:ext cx="11421075" cy="3040417"/>
          </a:xfrm>
          <a:prstGeom prst="roundRect">
            <a:avLst>
              <a:gd name="adj" fmla="val 8594"/>
            </a:avLst>
          </a:prstGeom>
          <a:solidFill>
            <a:srgbClr val="FFFFFF">
              <a:shade val="85000"/>
            </a:srgbClr>
          </a:solidFill>
          <a:ln>
            <a:noFill/>
          </a:ln>
          <a:effectLst>
            <a:outerShdw blurRad="50800" dist="596900" dir="5640000" sx="200000" sy="200000" algn="ctr" rotWithShape="0">
              <a:srgbClr val="000000">
                <a:alpha val="0"/>
              </a:srgbClr>
            </a:outerShdw>
            <a:reflection blurRad="12700" stA="98000" endPos="0" dist="5000" dir="5400000" sy="-100000" algn="bl" rotWithShape="0"/>
            <a:softEdge rad="0"/>
          </a:effectLst>
          <a:scene3d>
            <a:camera prst="orthographicFront">
              <a:rot lat="0" lon="300002" rev="0"/>
            </a:camera>
            <a:lightRig rig="threePt" dir="t"/>
          </a:scene3d>
        </p:spPr>
      </p:pic>
      <p:pic>
        <p:nvPicPr>
          <p:cNvPr id="9" name="Picture 8">
            <a:extLst>
              <a:ext uri="{FF2B5EF4-FFF2-40B4-BE49-F238E27FC236}">
                <a16:creationId xmlns:a16="http://schemas.microsoft.com/office/drawing/2014/main" id="{6090E6FD-5E45-C4B4-467B-FA8C22120B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2114" y="319131"/>
            <a:ext cx="2324424" cy="438211"/>
          </a:xfrm>
          <a:prstGeom prst="rect">
            <a:avLst/>
          </a:prstGeom>
        </p:spPr>
      </p:pic>
    </p:spTree>
    <p:extLst>
      <p:ext uri="{BB962C8B-B14F-4D97-AF65-F5344CB8AC3E}">
        <p14:creationId xmlns:p14="http://schemas.microsoft.com/office/powerpoint/2010/main" val="309214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09EF8A-63AB-0729-F7A0-B08D1E293C9B}"/>
              </a:ext>
            </a:extLst>
          </p:cNvPr>
          <p:cNvSpPr>
            <a:spLocks noGrp="1"/>
          </p:cNvSpPr>
          <p:nvPr>
            <p:ph type="sldNum" sz="quarter" idx="12"/>
          </p:nvPr>
        </p:nvSpPr>
        <p:spPr/>
        <p:txBody>
          <a:bodyPr/>
          <a:lstStyle/>
          <a:p>
            <a:fld id="{9BA15CD2-76D6-4EFE-91D9-7087332E3318}" type="slidenum">
              <a:rPr lang="en-IN" smtClean="0"/>
              <a:pPr/>
              <a:t>2</a:t>
            </a:fld>
            <a:endParaRPr lang="en-IN"/>
          </a:p>
        </p:txBody>
      </p:sp>
      <p:sp>
        <p:nvSpPr>
          <p:cNvPr id="6" name="Title 1">
            <a:extLst>
              <a:ext uri="{FF2B5EF4-FFF2-40B4-BE49-F238E27FC236}">
                <a16:creationId xmlns:a16="http://schemas.microsoft.com/office/drawing/2014/main" id="{BEBB7EA9-E087-F494-97C5-06B13A2535A6}"/>
              </a:ext>
            </a:extLst>
          </p:cNvPr>
          <p:cNvSpPr txBox="1">
            <a:spLocks/>
          </p:cNvSpPr>
          <p:nvPr/>
        </p:nvSpPr>
        <p:spPr>
          <a:xfrm>
            <a:off x="2339498" y="178833"/>
            <a:ext cx="8551282" cy="638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a:solidFill>
                <a:srgbClr val="C00000"/>
              </a:solidFill>
            </a:endParaRPr>
          </a:p>
        </p:txBody>
      </p:sp>
      <p:sp>
        <p:nvSpPr>
          <p:cNvPr id="2" name="Title 1">
            <a:extLst>
              <a:ext uri="{FF2B5EF4-FFF2-40B4-BE49-F238E27FC236}">
                <a16:creationId xmlns:a16="http://schemas.microsoft.com/office/drawing/2014/main" id="{F4C92045-E69D-E287-24F9-F3EC5A13CCB1}"/>
              </a:ext>
            </a:extLst>
          </p:cNvPr>
          <p:cNvSpPr txBox="1">
            <a:spLocks/>
          </p:cNvSpPr>
          <p:nvPr/>
        </p:nvSpPr>
        <p:spPr>
          <a:xfrm>
            <a:off x="2182762" y="89747"/>
            <a:ext cx="8151863" cy="131995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a:latin typeface="Times New Roman" panose="02020603050405020304" pitchFamily="18" charset="0"/>
                <a:cs typeface="Times New Roman" panose="02020603050405020304" pitchFamily="18" charset="0"/>
              </a:rPr>
              <a:t>EL PHASE-I</a:t>
            </a:r>
          </a:p>
          <a:p>
            <a:r>
              <a:rPr lang="en-US" sz="4000">
                <a:latin typeface="Times New Roman" panose="02020603050405020304" pitchFamily="18" charset="0"/>
                <a:cs typeface="Times New Roman" panose="02020603050405020304" pitchFamily="18" charset="0"/>
              </a:rPr>
              <a:t>P</a:t>
            </a:r>
            <a:r>
              <a:rPr lang="en-IN" sz="4000">
                <a:latin typeface="Times New Roman" panose="02020603050405020304" pitchFamily="18" charset="0"/>
                <a:cs typeface="Times New Roman" panose="02020603050405020304" pitchFamily="18" charset="0"/>
              </a:rPr>
              <a:t>RESENTATION OUTLINE</a:t>
            </a:r>
          </a:p>
        </p:txBody>
      </p:sp>
      <p:sp>
        <p:nvSpPr>
          <p:cNvPr id="8" name="Content Placeholder 7">
            <a:extLst>
              <a:ext uri="{FF2B5EF4-FFF2-40B4-BE49-F238E27FC236}">
                <a16:creationId xmlns:a16="http://schemas.microsoft.com/office/drawing/2014/main" id="{EB2484C8-68BC-9AA1-D8C5-282E3D75696E}"/>
              </a:ext>
            </a:extLst>
          </p:cNvPr>
          <p:cNvSpPr>
            <a:spLocks noGrp="1"/>
          </p:cNvSpPr>
          <p:nvPr>
            <p:ph idx="1"/>
          </p:nvPr>
        </p:nvSpPr>
        <p:spPr>
          <a:xfrm>
            <a:off x="575731" y="1812976"/>
            <a:ext cx="11441457" cy="4510087"/>
          </a:xfrm>
        </p:spPr>
        <p:txBody>
          <a:bodyPr vert="horz" lIns="91440" tIns="45720" rIns="91440" bIns="45720" rtlCol="0" anchor="t">
            <a:normAutofit lnSpcReduction="10000"/>
          </a:bodyPr>
          <a:lstStyle/>
          <a:p>
            <a:r>
              <a:rPr lang="en-US">
                <a:latin typeface="Times New Roman" panose="02020603050405020304" pitchFamily="18" charset="0"/>
                <a:cs typeface="Times New Roman" panose="02020603050405020304" pitchFamily="18" charset="0"/>
              </a:rPr>
              <a:t>Introduction</a:t>
            </a:r>
          </a:p>
          <a:p>
            <a:r>
              <a:rPr lang="en-US">
                <a:latin typeface="Times New Roman"/>
                <a:cs typeface="Times New Roman"/>
              </a:rPr>
              <a:t>Objectives &amp; Problem Statement</a:t>
            </a:r>
            <a:endParaRPr lang="en-US">
              <a:latin typeface="Times New Roman" panose="02020603050405020304" pitchFamily="18" charset="0"/>
              <a:cs typeface="Times New Roman" panose="02020603050405020304" pitchFamily="18" charset="0"/>
            </a:endParaRPr>
          </a:p>
          <a:p>
            <a:r>
              <a:rPr lang="en-US">
                <a:latin typeface="Times New Roman"/>
                <a:cs typeface="Times New Roman"/>
              </a:rPr>
              <a:t>Tools and techniques </a:t>
            </a:r>
          </a:p>
          <a:p>
            <a:r>
              <a:rPr lang="en-IN">
                <a:latin typeface="Times New Roman"/>
                <a:cs typeface="Times New Roman"/>
              </a:rPr>
              <a:t>Methodology flowchart</a:t>
            </a:r>
            <a:endParaRPr lang="en-IN">
              <a:latin typeface="Times New Roman" panose="02020603050405020304" pitchFamily="18" charset="0"/>
              <a:cs typeface="Times New Roman" panose="02020603050405020304" pitchFamily="18" charset="0"/>
            </a:endParaRPr>
          </a:p>
          <a:p>
            <a:r>
              <a:rPr lang="en-IN">
                <a:latin typeface="Times New Roman"/>
                <a:cs typeface="Times New Roman"/>
              </a:rPr>
              <a:t>Battery grade qualifier</a:t>
            </a:r>
            <a:endParaRPr lang="en-IN" dirty="0">
              <a:latin typeface="Times New Roman"/>
              <a:cs typeface="Times New Roman"/>
            </a:endParaRPr>
          </a:p>
          <a:p>
            <a:r>
              <a:rPr lang="en-IN">
                <a:latin typeface="Times New Roman"/>
                <a:cs typeface="Times New Roman"/>
              </a:rPr>
              <a:t>Sorting mechanism</a:t>
            </a:r>
          </a:p>
          <a:p>
            <a:r>
              <a:rPr lang="en-IN">
                <a:latin typeface="Times New Roman"/>
                <a:cs typeface="Times New Roman"/>
              </a:rPr>
              <a:t>Literature Review</a:t>
            </a:r>
          </a:p>
          <a:p>
            <a:r>
              <a:rPr lang="en-IN">
                <a:latin typeface="Times New Roman" panose="02020603050405020304" pitchFamily="18" charset="0"/>
                <a:cs typeface="Times New Roman" panose="02020603050405020304" pitchFamily="18" charset="0"/>
              </a:rPr>
              <a:t>Conclusion</a:t>
            </a:r>
          </a:p>
          <a:p>
            <a:r>
              <a:rPr lang="en-IN">
                <a:latin typeface="Times New Roman" panose="02020603050405020304" pitchFamily="18" charset="0"/>
                <a:cs typeface="Times New Roman" panose="02020603050405020304" pitchFamily="18" charset="0"/>
              </a:rPr>
              <a:t>References</a:t>
            </a:r>
          </a:p>
        </p:txBody>
      </p:sp>
      <p:pic>
        <p:nvPicPr>
          <p:cNvPr id="5" name="Picture 4">
            <a:extLst>
              <a:ext uri="{FF2B5EF4-FFF2-40B4-BE49-F238E27FC236}">
                <a16:creationId xmlns:a16="http://schemas.microsoft.com/office/drawing/2014/main" id="{4EED0510-0BE6-09C0-F0D7-876B98659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897"/>
            <a:ext cx="2362530" cy="1076475"/>
          </a:xfrm>
          <a:prstGeom prst="rect">
            <a:avLst/>
          </a:prstGeom>
        </p:spPr>
      </p:pic>
      <p:pic>
        <p:nvPicPr>
          <p:cNvPr id="7" name="Picture 6">
            <a:extLst>
              <a:ext uri="{FF2B5EF4-FFF2-40B4-BE49-F238E27FC236}">
                <a16:creationId xmlns:a16="http://schemas.microsoft.com/office/drawing/2014/main" id="{D33074FD-C704-BAFF-4DE6-2D3E7F31A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66028"/>
            <a:ext cx="2324424" cy="438211"/>
          </a:xfrm>
          <a:prstGeom prst="rect">
            <a:avLst/>
          </a:prstGeom>
        </p:spPr>
      </p:pic>
    </p:spTree>
    <p:extLst>
      <p:ext uri="{BB962C8B-B14F-4D97-AF65-F5344CB8AC3E}">
        <p14:creationId xmlns:p14="http://schemas.microsoft.com/office/powerpoint/2010/main" val="658094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51775-AAB3-6740-9A5D-BF7C9197E45B}"/>
              </a:ext>
            </a:extLst>
          </p:cNvPr>
          <p:cNvSpPr>
            <a:spLocks noGrp="1"/>
          </p:cNvSpPr>
          <p:nvPr>
            <p:ph idx="1"/>
          </p:nvPr>
        </p:nvSpPr>
        <p:spPr>
          <a:xfrm>
            <a:off x="174813" y="1678074"/>
            <a:ext cx="11842377" cy="4498887"/>
          </a:xfrm>
        </p:spPr>
        <p:txBody>
          <a:bodyPr vert="horz" lIns="91440" tIns="45720" rIns="91440" bIns="45720" rtlCol="0" anchor="t">
            <a:normAutofit/>
          </a:bodyPr>
          <a:lstStyle/>
          <a:p>
            <a:r>
              <a:rPr lang="en-US" b="1">
                <a:latin typeface="Calibri Light"/>
                <a:ea typeface="Calibri Light"/>
                <a:cs typeface="Calibri Light"/>
              </a:rPr>
              <a:t>Overview: </a:t>
            </a:r>
            <a:r>
              <a:rPr lang="en-US">
                <a:latin typeface="Calibri Light"/>
                <a:ea typeface="Calibri Light"/>
                <a:cs typeface="Calibri Light"/>
              </a:rPr>
              <a:t>A rapid, low-cost instrumentation system designed to classify retired Lithium-ion batteries (18650) for reuse in renewable energy storage. </a:t>
            </a:r>
          </a:p>
          <a:p>
            <a:endParaRPr lang="en-US">
              <a:latin typeface="Calibri Light"/>
              <a:ea typeface="Calibri Light"/>
              <a:cs typeface="Calibri Light"/>
            </a:endParaRPr>
          </a:p>
          <a:p>
            <a:r>
              <a:rPr lang="en-US" b="1">
                <a:latin typeface="Calibri Light"/>
                <a:ea typeface="Calibri Light"/>
                <a:cs typeface="Calibri Light"/>
              </a:rPr>
              <a:t>Importance: </a:t>
            </a:r>
            <a:r>
              <a:rPr lang="en-US">
                <a:latin typeface="Calibri Light"/>
                <a:ea typeface="Calibri Light"/>
                <a:cs typeface="Calibri Light"/>
              </a:rPr>
              <a:t>The transition to EVs is creating a "tsunami of e-waste." Recovering these batteries is essential to lower the cost of solar energy storage. Large industries mostly focusing on battery modules than loose cells.</a:t>
            </a:r>
          </a:p>
          <a:p>
            <a:endParaRPr lang="en-US">
              <a:latin typeface="Calibri Light"/>
              <a:ea typeface="Calibri Light"/>
              <a:cs typeface="Calibri Light"/>
            </a:endParaRPr>
          </a:p>
          <a:p>
            <a:r>
              <a:rPr lang="en-US" b="1">
                <a:latin typeface="Calibri Light"/>
                <a:ea typeface="Calibri Light"/>
                <a:cs typeface="Calibri Light"/>
              </a:rPr>
              <a:t>Justification: </a:t>
            </a:r>
            <a:r>
              <a:rPr lang="en-US">
                <a:latin typeface="Calibri Light"/>
                <a:ea typeface="Calibri Light"/>
                <a:cs typeface="Calibri Light"/>
              </a:rPr>
              <a:t>Current grading methods are either too slow (Capacity Testing: 4+ hours) or too expensive. There is no viable tool for grading loose cells at scale for the circular economy.</a:t>
            </a:r>
            <a:endParaRPr lang="en-IN">
              <a:latin typeface="Calibri Light"/>
              <a:ea typeface="Calibri Light"/>
              <a:cs typeface="Calibri Light"/>
            </a:endParaRPr>
          </a:p>
        </p:txBody>
      </p:sp>
      <p:sp>
        <p:nvSpPr>
          <p:cNvPr id="4" name="Slide Number Placeholder 3">
            <a:extLst>
              <a:ext uri="{FF2B5EF4-FFF2-40B4-BE49-F238E27FC236}">
                <a16:creationId xmlns:a16="http://schemas.microsoft.com/office/drawing/2014/main" id="{991113B7-13B3-C292-E8C9-16465C8FCA55}"/>
              </a:ext>
            </a:extLst>
          </p:cNvPr>
          <p:cNvSpPr>
            <a:spLocks noGrp="1"/>
          </p:cNvSpPr>
          <p:nvPr>
            <p:ph type="sldNum" sz="quarter" idx="12"/>
          </p:nvPr>
        </p:nvSpPr>
        <p:spPr/>
        <p:txBody>
          <a:bodyPr/>
          <a:lstStyle/>
          <a:p>
            <a:r>
              <a:rPr lang="en-IN">
                <a:latin typeface="Bookman Old Style"/>
              </a:rPr>
              <a:t> </a:t>
            </a:r>
            <a:fld id="{9BA15CD2-76D6-4EFE-91D9-7087332E3318}" type="slidenum">
              <a:rPr lang="en-IN" dirty="0" smtClean="0">
                <a:latin typeface="Bookman Old Style"/>
              </a:rPr>
              <a:pPr/>
              <a:t>3</a:t>
            </a:fld>
            <a:endParaRPr lang="en-IN">
              <a:latin typeface="Bookman Old Style"/>
            </a:endParaRPr>
          </a:p>
        </p:txBody>
      </p:sp>
      <p:sp>
        <p:nvSpPr>
          <p:cNvPr id="2" name="Title 1">
            <a:extLst>
              <a:ext uri="{FF2B5EF4-FFF2-40B4-BE49-F238E27FC236}">
                <a16:creationId xmlns:a16="http://schemas.microsoft.com/office/drawing/2014/main" id="{8D8FE783-AFDF-B298-CC26-D9899A64E440}"/>
              </a:ext>
            </a:extLst>
          </p:cNvPr>
          <p:cNvSpPr txBox="1">
            <a:spLocks/>
          </p:cNvSpPr>
          <p:nvPr/>
        </p:nvSpPr>
        <p:spPr>
          <a:xfrm>
            <a:off x="1178787" y="333759"/>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a:latin typeface="Times New Roman" panose="02020603050405020304" pitchFamily="18" charset="0"/>
                <a:cs typeface="Times New Roman" panose="02020603050405020304" pitchFamily="18" charset="0"/>
              </a:rPr>
              <a:t>INTRODUCTION</a:t>
            </a:r>
            <a:endParaRPr lang="en-IN" sz="40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04BFC53-A098-F57B-70B9-BE6B46529E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83376" y="415815"/>
            <a:ext cx="2324424" cy="438211"/>
          </a:xfrm>
          <a:prstGeom prst="rect">
            <a:avLst/>
          </a:prstGeom>
        </p:spPr>
      </p:pic>
      <p:pic>
        <p:nvPicPr>
          <p:cNvPr id="13" name="Picture 12">
            <a:extLst>
              <a:ext uri="{FF2B5EF4-FFF2-40B4-BE49-F238E27FC236}">
                <a16:creationId xmlns:a16="http://schemas.microsoft.com/office/drawing/2014/main" id="{31967F87-17B9-640F-E18F-5A57FBF706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6685"/>
            <a:ext cx="2362530" cy="1076475"/>
          </a:xfrm>
          <a:prstGeom prst="rect">
            <a:avLst/>
          </a:prstGeom>
        </p:spPr>
      </p:pic>
    </p:spTree>
    <p:extLst>
      <p:ext uri="{BB962C8B-B14F-4D97-AF65-F5344CB8AC3E}">
        <p14:creationId xmlns:p14="http://schemas.microsoft.com/office/powerpoint/2010/main" val="2544980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4</a:t>
            </a:fld>
            <a:endParaRPr lang="en-IN"/>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022713" y="319577"/>
            <a:ext cx="8146571" cy="103293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400">
                <a:latin typeface="Times New Roman"/>
                <a:cs typeface="Times New Roman"/>
              </a:rPr>
              <a:t>OBJECTIVE &amp;</a:t>
            </a:r>
          </a:p>
          <a:p>
            <a:r>
              <a:rPr lang="en-IN" sz="4400">
                <a:latin typeface="Times New Roman"/>
                <a:cs typeface="Times New Roman"/>
              </a:rPr>
              <a:t>PROBLEM STATEMENT </a:t>
            </a:r>
            <a:endParaRPr lang="en-IN" sz="4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73876CC-067F-EA23-160A-5D6F2D48B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Picture 6">
            <a:extLst>
              <a:ext uri="{FF2B5EF4-FFF2-40B4-BE49-F238E27FC236}">
                <a16:creationId xmlns:a16="http://schemas.microsoft.com/office/drawing/2014/main" id="{AFBF487E-84F0-B870-026C-2AB684B2BA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19131"/>
            <a:ext cx="2324424" cy="438211"/>
          </a:xfrm>
          <a:prstGeom prst="rect">
            <a:avLst/>
          </a:prstGeom>
        </p:spPr>
      </p:pic>
      <p:sp>
        <p:nvSpPr>
          <p:cNvPr id="3" name="Rectangle 1">
            <a:extLst>
              <a:ext uri="{FF2B5EF4-FFF2-40B4-BE49-F238E27FC236}">
                <a16:creationId xmlns:a16="http://schemas.microsoft.com/office/drawing/2014/main" id="{72788064-AC25-C2A2-9C5A-BF47986A7297}"/>
              </a:ext>
            </a:extLst>
          </p:cNvPr>
          <p:cNvSpPr>
            <a:spLocks noChangeArrowheads="1"/>
          </p:cNvSpPr>
          <p:nvPr/>
        </p:nvSpPr>
        <p:spPr bwMode="auto">
          <a:xfrm>
            <a:off x="187616" y="2136594"/>
            <a:ext cx="118078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3200" b="1" u="sng">
                <a:solidFill>
                  <a:srgbClr val="002060"/>
                </a:solidFill>
                <a:latin typeface="Calibri Light"/>
                <a:ea typeface="Calibri Light"/>
                <a:cs typeface="Calibri Light"/>
              </a:rPr>
              <a:t>Problem Statement</a:t>
            </a:r>
            <a:r>
              <a:rPr lang="en-US" sz="3200" b="1">
                <a:solidFill>
                  <a:srgbClr val="002060"/>
                </a:solidFill>
                <a:latin typeface="Calibri Light"/>
                <a:ea typeface="Calibri Light"/>
                <a:cs typeface="Calibri Light"/>
              </a:rPr>
              <a:t>:</a:t>
            </a:r>
            <a:r>
              <a:rPr lang="en-US" sz="3200">
                <a:solidFill>
                  <a:srgbClr val="002060"/>
                </a:solidFill>
                <a:latin typeface="Calibri Light"/>
                <a:ea typeface="Calibri Light"/>
                <a:cs typeface="Calibri Light"/>
              </a:rPr>
              <a:t> The lack of rapid, scalable infrastructure to grade "loose" retired lithium-ion cells prevents their reuse, forcing viable batteries into premature recycling or landfills.</a:t>
            </a:r>
            <a:endParaRPr lang="en-US"/>
          </a:p>
          <a:p>
            <a:pPr algn="ctr"/>
            <a:endParaRPr lang="en-US" sz="3200">
              <a:solidFill>
                <a:srgbClr val="002060"/>
              </a:solidFill>
              <a:latin typeface="Calibri Light"/>
              <a:ea typeface="Calibri Light"/>
              <a:cs typeface="Calibri Light"/>
            </a:endParaRPr>
          </a:p>
          <a:p>
            <a:pPr algn="ctr"/>
            <a:r>
              <a:rPr lang="en-US" sz="3200" b="1" u="sng">
                <a:solidFill>
                  <a:schemeClr val="accent5">
                    <a:lumMod val="50000"/>
                  </a:schemeClr>
                </a:solidFill>
                <a:latin typeface="Calibri Light"/>
                <a:ea typeface="Calibri Light"/>
                <a:cs typeface="Calibri Light"/>
              </a:rPr>
              <a:t>Main Objective</a:t>
            </a:r>
            <a:r>
              <a:rPr lang="en-US" sz="3200" b="1">
                <a:latin typeface="Calibri Light"/>
                <a:ea typeface="Calibri Light"/>
                <a:cs typeface="Calibri Light"/>
              </a:rPr>
              <a:t>:</a:t>
            </a:r>
            <a:r>
              <a:rPr lang="en-US" sz="3200">
                <a:latin typeface="Calibri Light"/>
                <a:ea typeface="Calibri Light"/>
                <a:cs typeface="Calibri Light"/>
              </a:rPr>
              <a:t> To design and develop a portable diagnostic system capable of grading Lithium-ion cells in under 60 seconds.</a:t>
            </a:r>
          </a:p>
          <a:p>
            <a:pPr algn="ctr"/>
            <a:endParaRPr lang="en-US" sz="3200" b="1">
              <a:solidFill>
                <a:schemeClr val="accent5">
                  <a:lumMod val="50000"/>
                </a:schemeClr>
              </a:solidFill>
              <a:latin typeface="Calibri Light"/>
              <a:ea typeface="Calibri Light"/>
              <a:cs typeface="Calibri Light"/>
            </a:endParaRPr>
          </a:p>
        </p:txBody>
      </p:sp>
    </p:spTree>
    <p:extLst>
      <p:ext uri="{BB962C8B-B14F-4D97-AF65-F5344CB8AC3E}">
        <p14:creationId xmlns:p14="http://schemas.microsoft.com/office/powerpoint/2010/main" val="2551868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9307-4C34-CB3E-C105-2D1AC1EE28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8D4443-E528-EB4B-9410-04D5034FB436}"/>
              </a:ext>
            </a:extLst>
          </p:cNvPr>
          <p:cNvSpPr>
            <a:spLocks noGrp="1"/>
          </p:cNvSpPr>
          <p:nvPr>
            <p:ph idx="1"/>
          </p:nvPr>
        </p:nvSpPr>
        <p:spPr>
          <a:xfrm>
            <a:off x="174811" y="1069220"/>
            <a:ext cx="11842377" cy="5277985"/>
          </a:xfrm>
        </p:spPr>
        <p:txBody>
          <a:bodyPr vert="horz" lIns="91440" tIns="45720" rIns="91440" bIns="45720" rtlCol="0" anchor="t">
            <a:noAutofit/>
          </a:bodyPr>
          <a:lstStyle/>
          <a:p>
            <a:pPr>
              <a:buNone/>
            </a:pPr>
            <a:r>
              <a:rPr lang="en-IN" sz="2400" b="1">
                <a:latin typeface="Calibri Light"/>
                <a:ea typeface="Calibri Light"/>
                <a:cs typeface="Calibri Light"/>
              </a:rPr>
              <a:t>1. Hardware Architecture Components</a:t>
            </a:r>
            <a:endParaRPr lang="en-US" sz="2400" b="1">
              <a:latin typeface="Calibri Light"/>
              <a:ea typeface="Calibri Light"/>
              <a:cs typeface="Calibri Light"/>
            </a:endParaRPr>
          </a:p>
          <a:p>
            <a:pPr>
              <a:buFont typeface="Arial"/>
              <a:buChar char="•"/>
            </a:pPr>
            <a:r>
              <a:rPr lang="en-IN" sz="2300" b="1">
                <a:latin typeface="Calibri Light"/>
                <a:ea typeface="Calibri Light"/>
                <a:cs typeface="Calibri Light"/>
              </a:rPr>
              <a:t>Microcontroller Core (Arduino Uno):</a:t>
            </a:r>
            <a:r>
              <a:rPr lang="en-IN" sz="2300">
                <a:latin typeface="Calibri Light"/>
                <a:ea typeface="Calibri Light"/>
                <a:cs typeface="Calibri Light"/>
              </a:rPr>
              <a:t> It generates a precise 1-second pulse signal via digital pins, handles I2C bus communications, and sequences data acquisition timings.</a:t>
            </a:r>
          </a:p>
          <a:p>
            <a:pPr>
              <a:buFont typeface="Arial"/>
              <a:buChar char="•"/>
            </a:pPr>
            <a:endParaRPr lang="en-IN" sz="2300">
              <a:latin typeface="Calibri Light"/>
              <a:ea typeface="Calibri Light"/>
              <a:cs typeface="Calibri Light"/>
            </a:endParaRPr>
          </a:p>
          <a:p>
            <a:pPr>
              <a:buFont typeface="Arial"/>
              <a:buChar char="•"/>
            </a:pPr>
            <a:r>
              <a:rPr lang="en-IN" sz="2300" b="1">
                <a:latin typeface="Calibri Light"/>
                <a:ea typeface="Calibri Light"/>
                <a:cs typeface="Calibri Light"/>
              </a:rPr>
              <a:t>ADS1115 (ADC) :</a:t>
            </a:r>
            <a:r>
              <a:rPr lang="en-IN" sz="2300">
                <a:latin typeface="Calibri Light"/>
                <a:ea typeface="Calibri Light"/>
                <a:cs typeface="Calibri Light"/>
              </a:rPr>
              <a:t> A 16-bit Sigma-Delta Analog-to-Digital Converter connected over the I2C bus. It provides a resolution voltage and current readings to the MCU </a:t>
            </a:r>
          </a:p>
          <a:p>
            <a:pPr>
              <a:buFont typeface="Arial"/>
              <a:buChar char="•"/>
            </a:pPr>
            <a:endParaRPr lang="en-IN" sz="2300">
              <a:latin typeface="Calibri Light"/>
              <a:ea typeface="Calibri Light"/>
              <a:cs typeface="Calibri Light"/>
            </a:endParaRPr>
          </a:p>
          <a:p>
            <a:pPr>
              <a:buFont typeface="Arial"/>
              <a:buChar char="•"/>
            </a:pPr>
            <a:r>
              <a:rPr lang="en-IN" sz="2300" b="1" dirty="0">
                <a:latin typeface="Calibri Light"/>
                <a:ea typeface="Calibri Light"/>
                <a:cs typeface="Calibri Light"/>
              </a:rPr>
              <a:t>LM358 Operational Amplifier + Power MOSFET):</a:t>
            </a:r>
            <a:r>
              <a:rPr lang="en-IN" sz="2300" dirty="0">
                <a:latin typeface="Calibri Light"/>
                <a:ea typeface="Calibri Light"/>
                <a:cs typeface="Calibri Light"/>
              </a:rPr>
              <a:t> An </a:t>
            </a:r>
            <a:r>
              <a:rPr lang="en-IN" sz="2300" b="1" dirty="0">
                <a:latin typeface="Calibri Light"/>
                <a:ea typeface="Calibri Light"/>
                <a:cs typeface="Calibri Light"/>
              </a:rPr>
              <a:t>LM358 Op-Amp</a:t>
            </a:r>
            <a:r>
              <a:rPr lang="en-IN" sz="2300" dirty="0">
                <a:latin typeface="Calibri Light"/>
                <a:ea typeface="Calibri Light"/>
                <a:cs typeface="Calibri Light"/>
              </a:rPr>
              <a:t> acts as an analog error amplifier in a negative feedback loop configuration. An </a:t>
            </a:r>
            <a:r>
              <a:rPr lang="en-IN" sz="2300" b="1" dirty="0">
                <a:latin typeface="Calibri Light"/>
                <a:ea typeface="Calibri Light"/>
                <a:cs typeface="Calibri Light"/>
              </a:rPr>
              <a:t>N-Channel Power MOSFET (e.g., IRF540N)</a:t>
            </a:r>
            <a:r>
              <a:rPr lang="en-IN" sz="2300" dirty="0">
                <a:latin typeface="Calibri Light"/>
                <a:ea typeface="Calibri Light"/>
                <a:cs typeface="Calibri Light"/>
              </a:rPr>
              <a:t> functions as a voltage-controlled variable resistor.</a:t>
            </a:r>
          </a:p>
          <a:p>
            <a:pPr>
              <a:buFont typeface="Arial"/>
              <a:buChar char="•"/>
            </a:pPr>
            <a:endParaRPr lang="en-IN" sz="2300">
              <a:latin typeface="Calibri Light"/>
              <a:ea typeface="Calibri Light"/>
              <a:cs typeface="Calibri Light"/>
            </a:endParaRPr>
          </a:p>
          <a:p>
            <a:pPr>
              <a:buFont typeface="Arial"/>
              <a:buChar char="•"/>
            </a:pPr>
            <a:r>
              <a:rPr lang="en-IN" sz="2300" b="1">
                <a:latin typeface="Calibri Light"/>
                <a:ea typeface="Calibri Light"/>
                <a:cs typeface="Calibri Light"/>
              </a:rPr>
              <a:t>Power Shunt (1 Ohm Shunt) :</a:t>
            </a:r>
            <a:r>
              <a:rPr lang="en-IN" sz="2300">
                <a:latin typeface="Calibri Light"/>
                <a:ea typeface="Calibri Light"/>
                <a:cs typeface="Calibri Light"/>
              </a:rPr>
              <a:t> A high-wattage power resistor that sits between the MOSFET Source and ground, serving as the physical feedback component for the operational amplifier.</a:t>
            </a:r>
          </a:p>
          <a:p>
            <a:pPr marL="0" indent="0">
              <a:buNone/>
            </a:pPr>
            <a:endParaRPr lang="en-IN" sz="2300" b="1">
              <a:latin typeface="Calibri Light"/>
              <a:ea typeface="Calibri Light"/>
              <a:cs typeface="Calibri Light"/>
            </a:endParaRPr>
          </a:p>
        </p:txBody>
      </p:sp>
      <p:sp>
        <p:nvSpPr>
          <p:cNvPr id="4" name="Slide Number Placeholder 3">
            <a:extLst>
              <a:ext uri="{FF2B5EF4-FFF2-40B4-BE49-F238E27FC236}">
                <a16:creationId xmlns:a16="http://schemas.microsoft.com/office/drawing/2014/main" id="{A503B7CA-5A65-0C95-6354-7BFB5F35EFDA}"/>
              </a:ext>
            </a:extLst>
          </p:cNvPr>
          <p:cNvSpPr>
            <a:spLocks noGrp="1"/>
          </p:cNvSpPr>
          <p:nvPr>
            <p:ph type="sldNum" sz="quarter" idx="12"/>
          </p:nvPr>
        </p:nvSpPr>
        <p:spPr/>
        <p:txBody>
          <a:bodyPr/>
          <a:lstStyle/>
          <a:p>
            <a:fld id="{9BA15CD2-76D6-4EFE-91D9-7087332E3318}" type="slidenum">
              <a:rPr lang="en-IN" smtClean="0"/>
              <a:pPr/>
              <a:t>5</a:t>
            </a:fld>
            <a:endParaRPr lang="en-IN"/>
          </a:p>
        </p:txBody>
      </p:sp>
      <p:sp>
        <p:nvSpPr>
          <p:cNvPr id="5" name="Title 1">
            <a:extLst>
              <a:ext uri="{FF2B5EF4-FFF2-40B4-BE49-F238E27FC236}">
                <a16:creationId xmlns:a16="http://schemas.microsoft.com/office/drawing/2014/main" id="{6E163144-4658-A746-DCCA-A633CCB2EBD2}"/>
              </a:ext>
            </a:extLst>
          </p:cNvPr>
          <p:cNvSpPr txBox="1">
            <a:spLocks/>
          </p:cNvSpPr>
          <p:nvPr/>
        </p:nvSpPr>
        <p:spPr>
          <a:xfrm>
            <a:off x="2247684" y="149150"/>
            <a:ext cx="7217657" cy="774088"/>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600">
                <a:latin typeface="Times New Roman"/>
                <a:cs typeface="Times New Roman"/>
              </a:rPr>
              <a:t>TOOLS &amp; TECHNIQUIES USED</a:t>
            </a:r>
            <a:endParaRPr lang="en-IN" sz="36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2FB3271-A282-796B-6B39-FC289E6FE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Picture 6">
            <a:extLst>
              <a:ext uri="{FF2B5EF4-FFF2-40B4-BE49-F238E27FC236}">
                <a16:creationId xmlns:a16="http://schemas.microsoft.com/office/drawing/2014/main" id="{D084D844-C96D-F8D8-0014-E674B850B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23864"/>
            <a:ext cx="2324424" cy="438211"/>
          </a:xfrm>
          <a:prstGeom prst="rect">
            <a:avLst/>
          </a:prstGeom>
        </p:spPr>
      </p:pic>
    </p:spTree>
    <p:extLst>
      <p:ext uri="{BB962C8B-B14F-4D97-AF65-F5344CB8AC3E}">
        <p14:creationId xmlns:p14="http://schemas.microsoft.com/office/powerpoint/2010/main" val="349227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BC3AD-A580-4DDA-4DB2-0FF926ABC1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532C35-D802-A8E5-C073-87CDE8CF3A1F}"/>
              </a:ext>
            </a:extLst>
          </p:cNvPr>
          <p:cNvSpPr>
            <a:spLocks noGrp="1"/>
          </p:cNvSpPr>
          <p:nvPr>
            <p:ph idx="1"/>
          </p:nvPr>
        </p:nvSpPr>
        <p:spPr>
          <a:xfrm>
            <a:off x="174811" y="1243391"/>
            <a:ext cx="11842377" cy="5277985"/>
          </a:xfrm>
        </p:spPr>
        <p:txBody>
          <a:bodyPr vert="horz" lIns="91440" tIns="45720" rIns="91440" bIns="45720" rtlCol="0" anchor="t">
            <a:noAutofit/>
          </a:bodyPr>
          <a:lstStyle/>
          <a:p>
            <a:pPr>
              <a:buNone/>
            </a:pPr>
            <a:r>
              <a:rPr lang="en-IN" sz="2000" b="1">
                <a:latin typeface="Calibri Light"/>
                <a:ea typeface="Calibri Light"/>
                <a:cs typeface="Calibri Light"/>
              </a:rPr>
              <a:t>2. Software &amp; Machine Learning Model Architecture</a:t>
            </a:r>
            <a:endParaRPr lang="en-US" sz="2000" b="1">
              <a:latin typeface="Calibri Light"/>
              <a:ea typeface="Calibri Light"/>
              <a:cs typeface="Calibri Light"/>
            </a:endParaRPr>
          </a:p>
          <a:p>
            <a:pPr>
              <a:buFont typeface="Arial"/>
              <a:buChar char="•"/>
            </a:pPr>
            <a:r>
              <a:rPr lang="en-IN" sz="2000" b="1">
                <a:latin typeface="Calibri Light"/>
                <a:ea typeface="Calibri Light"/>
                <a:cs typeface="Calibri Light"/>
              </a:rPr>
              <a:t>LTspice :</a:t>
            </a:r>
            <a:r>
              <a:rPr lang="en-IN" sz="2000">
                <a:latin typeface="Calibri Light"/>
                <a:ea typeface="Calibri Light"/>
                <a:cs typeface="Calibri Light"/>
              </a:rPr>
              <a:t> Used to execute the electrochemical </a:t>
            </a:r>
            <a:r>
              <a:rPr lang="en-IN" sz="2000" err="1">
                <a:latin typeface="Calibri Light"/>
                <a:ea typeface="Calibri Light"/>
                <a:cs typeface="Calibri Light"/>
              </a:rPr>
              <a:t>modeling</a:t>
            </a:r>
            <a:r>
              <a:rPr lang="en-IN" sz="2000">
                <a:latin typeface="Calibri Light"/>
                <a:ea typeface="Calibri Light"/>
                <a:cs typeface="Calibri Light"/>
              </a:rPr>
              <a:t> of lithium-ion cell degradation phenotypes (such as variable internal resistance, double-layer capacitance, and diffusion polarization parameters).</a:t>
            </a:r>
          </a:p>
          <a:p>
            <a:pPr>
              <a:buFont typeface="Arial"/>
              <a:buChar char="•"/>
            </a:pPr>
            <a:r>
              <a:rPr lang="en-IN" sz="2000" b="1">
                <a:latin typeface="Calibri Light"/>
                <a:ea typeface="Calibri Light"/>
                <a:cs typeface="Calibri Light"/>
              </a:rPr>
              <a:t>Arduino IDE:</a:t>
            </a:r>
            <a:r>
              <a:rPr lang="en-IN" sz="2000">
                <a:latin typeface="Calibri Light"/>
                <a:ea typeface="Calibri Light"/>
                <a:cs typeface="Calibri Light"/>
              </a:rPr>
              <a:t> Utilized for writing the C++ hardware code, configuring I2C data rates, and operating the real-time serial transmission stream at </a:t>
            </a:r>
            <a:r>
              <a:rPr lang="en-IN" sz="2000" b="1">
                <a:latin typeface="Calibri Light"/>
                <a:ea typeface="Calibri Light"/>
                <a:cs typeface="Calibri Light"/>
              </a:rPr>
              <a:t>115200 Baud</a:t>
            </a:r>
            <a:r>
              <a:rPr lang="en-IN" sz="2000">
                <a:latin typeface="Calibri Light"/>
                <a:ea typeface="Calibri Light"/>
                <a:cs typeface="Calibri Light"/>
              </a:rPr>
              <a:t>.</a:t>
            </a:r>
          </a:p>
          <a:p>
            <a:pPr>
              <a:buFont typeface="Arial"/>
              <a:buChar char="•"/>
            </a:pPr>
            <a:r>
              <a:rPr lang="en-IN" sz="2000" b="1">
                <a:latin typeface="Calibri Light"/>
                <a:ea typeface="Calibri Light"/>
                <a:cs typeface="Calibri Light"/>
              </a:rPr>
              <a:t>Python :</a:t>
            </a:r>
            <a:r>
              <a:rPr lang="en-IN" sz="2000">
                <a:latin typeface="Calibri Light"/>
                <a:ea typeface="Calibri Light"/>
                <a:cs typeface="Calibri Light"/>
              </a:rPr>
              <a:t> The primary host software layer responsible for parsing incoming serial data vectors, transforming raw data streams, executing mathematical calculations, and running the machine learning runtime framework.</a:t>
            </a:r>
            <a:endParaRPr lang="en-IN" sz="2000">
              <a:ea typeface="Calibri Light"/>
              <a:cs typeface="Calibri Light"/>
            </a:endParaRPr>
          </a:p>
          <a:p>
            <a:pPr>
              <a:buFont typeface="Arial"/>
              <a:buChar char="•"/>
            </a:pPr>
            <a:r>
              <a:rPr lang="en-IN" sz="2000" b="1">
                <a:latin typeface="Calibri Light"/>
                <a:ea typeface="Calibri Light"/>
                <a:cs typeface="Calibri Light"/>
              </a:rPr>
              <a:t>Random Forest Classifier:</a:t>
            </a:r>
            <a:r>
              <a:rPr lang="en-IN" sz="2000">
                <a:latin typeface="Calibri Light"/>
                <a:ea typeface="Calibri Light"/>
                <a:cs typeface="Calibri Light"/>
              </a:rPr>
              <a:t> Random Forest is an ensemble learning method that constructs multiple decision trees during training. It is mathematically optimized for usage in edge devices, providing high generalization capabilities, immunity to overfitting, and an inherently fast computation timeline. Thus, the model can provide "</a:t>
            </a:r>
            <a:r>
              <a:rPr lang="en-IN" sz="2000" b="1">
                <a:latin typeface="Calibri Light"/>
                <a:ea typeface="Calibri Light"/>
                <a:cs typeface="Calibri Light"/>
              </a:rPr>
              <a:t>Multi-Class Determinations"</a:t>
            </a:r>
            <a:r>
              <a:rPr lang="en-IN" sz="2000">
                <a:latin typeface="Calibri Light"/>
                <a:ea typeface="Calibri Light"/>
                <a:cs typeface="Calibri Light"/>
              </a:rPr>
              <a:t> Classifies cells securely into discrete categories: </a:t>
            </a:r>
            <a:r>
              <a:rPr lang="en-IN" sz="2000" b="1">
                <a:latin typeface="Calibri Light"/>
                <a:ea typeface="Calibri Light"/>
                <a:cs typeface="Calibri Light"/>
              </a:rPr>
              <a:t>Grade A (Healthy)</a:t>
            </a:r>
            <a:r>
              <a:rPr lang="en-IN" sz="2000">
                <a:latin typeface="Calibri Light"/>
                <a:ea typeface="Calibri Light"/>
                <a:cs typeface="Calibri Light"/>
              </a:rPr>
              <a:t>, </a:t>
            </a:r>
            <a:r>
              <a:rPr lang="en-IN" sz="2000" b="1">
                <a:latin typeface="Calibri Light"/>
                <a:ea typeface="Calibri Light"/>
                <a:cs typeface="Calibri Light"/>
              </a:rPr>
              <a:t>Grade B (Moderate)</a:t>
            </a:r>
            <a:r>
              <a:rPr lang="en-IN" sz="2000">
                <a:latin typeface="Calibri Light"/>
                <a:ea typeface="Calibri Light"/>
                <a:cs typeface="Calibri Light"/>
              </a:rPr>
              <a:t>, or </a:t>
            </a:r>
            <a:r>
              <a:rPr lang="en-IN" sz="2000" b="1">
                <a:latin typeface="Calibri Light"/>
                <a:ea typeface="Calibri Light"/>
                <a:cs typeface="Calibri Light"/>
              </a:rPr>
              <a:t>Grade C (Degraded). Confidence Score Evaluation:</a:t>
            </a:r>
            <a:r>
              <a:rPr lang="en-IN" sz="2000">
                <a:latin typeface="Calibri Light"/>
                <a:ea typeface="Calibri Light"/>
                <a:cs typeface="Calibri Light"/>
              </a:rPr>
              <a:t> Passes the final decision voting matrices through a normalization layer to supply an interactive probability/confidence metric (e.g., Grade A: 94.5% certainty). This structure perfectly preserves an advanced, AI-driven evaluation ecosystem while executing on highly optimal, lightweight processing loops</a:t>
            </a:r>
            <a:r>
              <a:rPr lang="en-IN" sz="2000">
                <a:latin typeface="Bookman Old Style"/>
                <a:ea typeface="Calibri Light"/>
                <a:cs typeface="Calibri Light"/>
              </a:rPr>
              <a:t>.</a:t>
            </a:r>
            <a:endParaRPr lang="en-IN" sz="2000"/>
          </a:p>
          <a:p>
            <a:pPr>
              <a:buFont typeface="Arial"/>
              <a:buChar char="•"/>
            </a:pPr>
            <a:endParaRPr lang="en-IN" sz="1400">
              <a:latin typeface="Calibri Light"/>
              <a:ea typeface="Calibri Light"/>
              <a:cs typeface="Calibri Light"/>
            </a:endParaRPr>
          </a:p>
          <a:p>
            <a:pPr>
              <a:buNone/>
            </a:pPr>
            <a:endParaRPr lang="en-IN" sz="1400" b="1">
              <a:latin typeface="Calibri Light"/>
              <a:ea typeface="Calibri Light"/>
              <a:cs typeface="Calibri Light"/>
            </a:endParaRPr>
          </a:p>
        </p:txBody>
      </p:sp>
      <p:sp>
        <p:nvSpPr>
          <p:cNvPr id="4" name="Slide Number Placeholder 3">
            <a:extLst>
              <a:ext uri="{FF2B5EF4-FFF2-40B4-BE49-F238E27FC236}">
                <a16:creationId xmlns:a16="http://schemas.microsoft.com/office/drawing/2014/main" id="{1E2B16E3-9ECC-F8D9-143D-75D45780D47D}"/>
              </a:ext>
            </a:extLst>
          </p:cNvPr>
          <p:cNvSpPr>
            <a:spLocks noGrp="1"/>
          </p:cNvSpPr>
          <p:nvPr>
            <p:ph type="sldNum" sz="quarter" idx="12"/>
          </p:nvPr>
        </p:nvSpPr>
        <p:spPr/>
        <p:txBody>
          <a:bodyPr/>
          <a:lstStyle/>
          <a:p>
            <a:fld id="{9BA15CD2-76D6-4EFE-91D9-7087332E3318}" type="slidenum">
              <a:rPr lang="en-IN" smtClean="0"/>
              <a:pPr/>
              <a:t>6</a:t>
            </a:fld>
            <a:endParaRPr lang="en-IN"/>
          </a:p>
        </p:txBody>
      </p:sp>
      <p:sp>
        <p:nvSpPr>
          <p:cNvPr id="5" name="Title 1">
            <a:extLst>
              <a:ext uri="{FF2B5EF4-FFF2-40B4-BE49-F238E27FC236}">
                <a16:creationId xmlns:a16="http://schemas.microsoft.com/office/drawing/2014/main" id="{A344B3AB-A087-8E2E-0D6B-FE928BDF5264}"/>
              </a:ext>
            </a:extLst>
          </p:cNvPr>
          <p:cNvSpPr txBox="1">
            <a:spLocks/>
          </p:cNvSpPr>
          <p:nvPr/>
        </p:nvSpPr>
        <p:spPr>
          <a:xfrm>
            <a:off x="2247684" y="149150"/>
            <a:ext cx="7217657" cy="774088"/>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600">
                <a:latin typeface="Times New Roman"/>
                <a:cs typeface="Times New Roman"/>
              </a:rPr>
              <a:t>TOOLS &amp; TECHNIQUIES USED</a:t>
            </a:r>
            <a:endParaRPr lang="en-IN" sz="36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FA81CF7-8F08-4C83-F876-98B963F51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Picture 6">
            <a:extLst>
              <a:ext uri="{FF2B5EF4-FFF2-40B4-BE49-F238E27FC236}">
                <a16:creationId xmlns:a16="http://schemas.microsoft.com/office/drawing/2014/main" id="{036CA2BF-660D-7259-CB0E-96C09AE460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23864"/>
            <a:ext cx="2324424" cy="438211"/>
          </a:xfrm>
          <a:prstGeom prst="rect">
            <a:avLst/>
          </a:prstGeom>
        </p:spPr>
      </p:pic>
    </p:spTree>
    <p:extLst>
      <p:ext uri="{BB962C8B-B14F-4D97-AF65-F5344CB8AC3E}">
        <p14:creationId xmlns:p14="http://schemas.microsoft.com/office/powerpoint/2010/main" val="248240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diagram of a battery&#10;&#10;AI-generated content may be incorrect.">
            <a:extLst>
              <a:ext uri="{FF2B5EF4-FFF2-40B4-BE49-F238E27FC236}">
                <a16:creationId xmlns:a16="http://schemas.microsoft.com/office/drawing/2014/main" id="{386331C5-1376-696A-E99D-81A967B36BD5}"/>
              </a:ext>
            </a:extLst>
          </p:cNvPr>
          <p:cNvPicPr>
            <a:picLocks noGrp="1" noChangeAspect="1"/>
          </p:cNvPicPr>
          <p:nvPr>
            <p:ph idx="1"/>
          </p:nvPr>
        </p:nvPicPr>
        <p:blipFill>
          <a:blip r:embed="rId2"/>
          <a:stretch>
            <a:fillRect/>
          </a:stretch>
        </p:blipFill>
        <p:spPr>
          <a:xfrm>
            <a:off x="682171" y="1167553"/>
            <a:ext cx="10617199" cy="5204690"/>
          </a:xfrm>
          <a:prstGeom prst="rect">
            <a:avLst/>
          </a:prstGeom>
          <a:ln>
            <a:noFill/>
          </a:ln>
        </p:spPr>
      </p:pic>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7</a:t>
            </a:fld>
            <a:endParaRPr lang="en-IN"/>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346313" y="127380"/>
            <a:ext cx="112961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600">
                <a:latin typeface="Times New Roman"/>
                <a:cs typeface="Times New Roman"/>
              </a:rPr>
              <a:t>METHODOLOGY FLOWCHART</a:t>
            </a:r>
            <a:endParaRPr lang="en-IN" sz="36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DBC4316-2C23-29EF-AA7D-E9EBF822A7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Picture 6">
            <a:extLst>
              <a:ext uri="{FF2B5EF4-FFF2-40B4-BE49-F238E27FC236}">
                <a16:creationId xmlns:a16="http://schemas.microsoft.com/office/drawing/2014/main" id="{595BD339-A506-3FAC-6137-3D8E72D03C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3376" y="323864"/>
            <a:ext cx="2324424" cy="438211"/>
          </a:xfrm>
          <a:prstGeom prst="rect">
            <a:avLst/>
          </a:prstGeom>
        </p:spPr>
      </p:pic>
    </p:spTree>
    <p:extLst>
      <p:ext uri="{BB962C8B-B14F-4D97-AF65-F5344CB8AC3E}">
        <p14:creationId xmlns:p14="http://schemas.microsoft.com/office/powerpoint/2010/main" val="2191383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921A3-A7F9-1EA3-AB83-672AD04B27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E4424B-31BE-C142-53F2-A6D320CDEC98}"/>
              </a:ext>
            </a:extLst>
          </p:cNvPr>
          <p:cNvSpPr>
            <a:spLocks noGrp="1"/>
          </p:cNvSpPr>
          <p:nvPr>
            <p:ph type="sldNum" sz="quarter" idx="12"/>
          </p:nvPr>
        </p:nvSpPr>
        <p:spPr/>
        <p:txBody>
          <a:bodyPr/>
          <a:lstStyle/>
          <a:p>
            <a:fld id="{9BA15CD2-76D6-4EFE-91D9-7087332E3318}" type="slidenum">
              <a:rPr lang="en-IN" smtClean="0"/>
              <a:pPr/>
              <a:t>8</a:t>
            </a:fld>
            <a:endParaRPr lang="en-IN"/>
          </a:p>
        </p:txBody>
      </p:sp>
      <p:sp>
        <p:nvSpPr>
          <p:cNvPr id="5" name="Title 1">
            <a:extLst>
              <a:ext uri="{FF2B5EF4-FFF2-40B4-BE49-F238E27FC236}">
                <a16:creationId xmlns:a16="http://schemas.microsoft.com/office/drawing/2014/main" id="{6E7B01E0-D2AA-16D8-DAFF-FF8B6D9FE626}"/>
              </a:ext>
            </a:extLst>
          </p:cNvPr>
          <p:cNvSpPr txBox="1">
            <a:spLocks/>
          </p:cNvSpPr>
          <p:nvPr/>
        </p:nvSpPr>
        <p:spPr>
          <a:xfrm>
            <a:off x="2022713" y="40294"/>
            <a:ext cx="8146571" cy="1579629"/>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400">
                <a:latin typeface="Times New Roman"/>
                <a:cs typeface="Times New Roman"/>
              </a:rPr>
              <a:t>BATTERY GRADE QUALIFIER</a:t>
            </a:r>
            <a:endParaRPr lang="en-IN" sz="4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8964025-DB84-E2F6-7C4A-B5C684C48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Picture 6">
            <a:extLst>
              <a:ext uri="{FF2B5EF4-FFF2-40B4-BE49-F238E27FC236}">
                <a16:creationId xmlns:a16="http://schemas.microsoft.com/office/drawing/2014/main" id="{43114F44-1F79-5DDA-9990-E5C9D229E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23864"/>
            <a:ext cx="2324424" cy="438211"/>
          </a:xfrm>
          <a:prstGeom prst="rect">
            <a:avLst/>
          </a:prstGeom>
        </p:spPr>
      </p:pic>
      <p:sp>
        <p:nvSpPr>
          <p:cNvPr id="8" name="Content Placeholder 7">
            <a:extLst>
              <a:ext uri="{FF2B5EF4-FFF2-40B4-BE49-F238E27FC236}">
                <a16:creationId xmlns:a16="http://schemas.microsoft.com/office/drawing/2014/main" id="{7494804D-0532-430C-E67C-75B44C177EAD}"/>
              </a:ext>
            </a:extLst>
          </p:cNvPr>
          <p:cNvSpPr>
            <a:spLocks noGrp="1"/>
          </p:cNvSpPr>
          <p:nvPr>
            <p:ph idx="1"/>
          </p:nvPr>
        </p:nvSpPr>
        <p:spPr>
          <a:xfrm>
            <a:off x="160299" y="1817081"/>
            <a:ext cx="6348720" cy="4113138"/>
          </a:xfrm>
        </p:spPr>
        <p:txBody>
          <a:bodyPr vert="horz" lIns="91440" tIns="45720" rIns="91440" bIns="45720" rtlCol="0" anchor="t">
            <a:normAutofit fontScale="62500" lnSpcReduction="20000"/>
          </a:bodyPr>
          <a:lstStyle/>
          <a:p>
            <a:r>
              <a:rPr lang="en-US"/>
              <a:t>Battery voltage and current are measured during the pulse test to assess battery health.</a:t>
            </a:r>
          </a:p>
          <a:p>
            <a:r>
              <a:rPr lang="en-US"/>
              <a:t>Key features such as voltage drop, voltage recovery, and internal resistance are extracted from the data.</a:t>
            </a:r>
          </a:p>
          <a:p>
            <a:r>
              <a:rPr lang="en-US"/>
              <a:t>A Random Forest machine learning model analyzes these features to determine the battery condition.</a:t>
            </a:r>
          </a:p>
          <a:p>
            <a:r>
              <a:rPr lang="en-US"/>
              <a:t>The battery is classified into three categories:</a:t>
            </a:r>
          </a:p>
          <a:p>
            <a:r>
              <a:rPr lang="en-US"/>
              <a:t>Grade A: Healthy battery suitable for direct reuse.</a:t>
            </a:r>
          </a:p>
          <a:p>
            <a:r>
              <a:rPr lang="en-US"/>
              <a:t>Grade B: Moderately aged battery suitable for secondary applications.</a:t>
            </a:r>
          </a:p>
          <a:p>
            <a:r>
              <a:rPr lang="en-US"/>
              <a:t>Grade C: Degraded battery recommended for recycling or safe disposal.</a:t>
            </a:r>
          </a:p>
          <a:p>
            <a:r>
              <a:rPr lang="en-US"/>
              <a:t>The classification result is sent to the ESP32, which automatically sorts the battery into the appropriate bin.</a:t>
            </a:r>
          </a:p>
        </p:txBody>
      </p:sp>
      <p:pic>
        <p:nvPicPr>
          <p:cNvPr id="3" name="Picture 2">
            <a:extLst>
              <a:ext uri="{FF2B5EF4-FFF2-40B4-BE49-F238E27FC236}">
                <a16:creationId xmlns:a16="http://schemas.microsoft.com/office/drawing/2014/main" id="{B47696F9-0365-EDD7-3B28-397EACF66CD6}"/>
              </a:ext>
            </a:extLst>
          </p:cNvPr>
          <p:cNvPicPr>
            <a:picLocks noChangeAspect="1"/>
          </p:cNvPicPr>
          <p:nvPr/>
        </p:nvPicPr>
        <p:blipFill>
          <a:blip r:embed="rId4"/>
          <a:stretch>
            <a:fillRect/>
          </a:stretch>
        </p:blipFill>
        <p:spPr>
          <a:xfrm>
            <a:off x="6693679" y="1814286"/>
            <a:ext cx="5154641" cy="3621315"/>
          </a:xfrm>
          <a:prstGeom prst="rect">
            <a:avLst/>
          </a:prstGeom>
        </p:spPr>
      </p:pic>
    </p:spTree>
    <p:extLst>
      <p:ext uri="{BB962C8B-B14F-4D97-AF65-F5344CB8AC3E}">
        <p14:creationId xmlns:p14="http://schemas.microsoft.com/office/powerpoint/2010/main" val="1736893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box with a machine and wires&#10;&#10;AI-generated content may be incorrect.">
            <a:extLst>
              <a:ext uri="{FF2B5EF4-FFF2-40B4-BE49-F238E27FC236}">
                <a16:creationId xmlns:a16="http://schemas.microsoft.com/office/drawing/2014/main" id="{C9188C96-3495-5886-9E76-A01C279FAC3A}"/>
              </a:ext>
            </a:extLst>
          </p:cNvPr>
          <p:cNvPicPr>
            <a:picLocks noGrp="1" noChangeAspect="1"/>
          </p:cNvPicPr>
          <p:nvPr>
            <p:ph idx="1"/>
          </p:nvPr>
        </p:nvPicPr>
        <p:blipFill>
          <a:blip r:embed="rId2"/>
          <a:stretch>
            <a:fillRect/>
          </a:stretch>
        </p:blipFill>
        <p:spPr>
          <a:xfrm>
            <a:off x="203584" y="2053067"/>
            <a:ext cx="3209472" cy="2757716"/>
          </a:xfrm>
          <a:prstGeom prst="rect">
            <a:avLst/>
          </a:prstGeom>
          <a:ln>
            <a:noFill/>
          </a:ln>
        </p:spPr>
      </p:pic>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9</a:t>
            </a:fld>
            <a:endParaRPr lang="en-IN"/>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022713" y="91094"/>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400">
                <a:latin typeface="Times New Roman"/>
                <a:cs typeface="Times New Roman"/>
              </a:rPr>
              <a:t>SORTING MECHANISM</a:t>
            </a:r>
            <a:endParaRPr lang="en-IN" sz="4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DBC4316-2C23-29EF-AA7D-E9EBF822A7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7" name="Picture 6">
            <a:extLst>
              <a:ext uri="{FF2B5EF4-FFF2-40B4-BE49-F238E27FC236}">
                <a16:creationId xmlns:a16="http://schemas.microsoft.com/office/drawing/2014/main" id="{595BD339-A506-3FAC-6137-3D8E72D03C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3376" y="323864"/>
            <a:ext cx="2324424" cy="438211"/>
          </a:xfrm>
          <a:prstGeom prst="rect">
            <a:avLst/>
          </a:prstGeom>
        </p:spPr>
      </p:pic>
      <p:sp>
        <p:nvSpPr>
          <p:cNvPr id="9" name="TextBox 8">
            <a:extLst>
              <a:ext uri="{FF2B5EF4-FFF2-40B4-BE49-F238E27FC236}">
                <a16:creationId xmlns:a16="http://schemas.microsoft.com/office/drawing/2014/main" id="{621D42AA-DF38-8BEC-90AA-5C7F27D3C906}"/>
              </a:ext>
            </a:extLst>
          </p:cNvPr>
          <p:cNvSpPr txBox="1"/>
          <p:nvPr/>
        </p:nvSpPr>
        <p:spPr>
          <a:xfrm>
            <a:off x="3454005" y="1464448"/>
            <a:ext cx="8561231"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2060"/>
                </a:solidFill>
                <a:latin typeface="Calibri Light"/>
                <a:ea typeface="Calibri Light"/>
                <a:cs typeface="Calibri Light"/>
              </a:rPr>
              <a:t>To maximize efficiency, an automated physical sorting mechanism was integrated into the system, reducing processing time and enabling full automation. </a:t>
            </a:r>
            <a:r>
              <a:rPr lang="en-US" sz="2000" b="1" u="sng">
                <a:solidFill>
                  <a:srgbClr val="002060"/>
                </a:solidFill>
                <a:latin typeface="Calibri Light"/>
                <a:ea typeface="Calibri Light"/>
                <a:cs typeface="Calibri Light"/>
              </a:rPr>
              <a:t>The</a:t>
            </a:r>
            <a:r>
              <a:rPr lang="en-US" sz="2000" b="1">
                <a:solidFill>
                  <a:srgbClr val="002060"/>
                </a:solidFill>
                <a:latin typeface="Calibri Light"/>
                <a:ea typeface="Calibri Light"/>
                <a:cs typeface="Calibri Light"/>
              </a:rPr>
              <a:t> </a:t>
            </a:r>
            <a:r>
              <a:rPr lang="en-US" sz="2000" b="1" u="sng">
                <a:solidFill>
                  <a:srgbClr val="002060"/>
                </a:solidFill>
                <a:latin typeface="Calibri Light"/>
                <a:ea typeface="Calibri Light"/>
                <a:cs typeface="Calibri Light"/>
              </a:rPr>
              <a:t>current prototype serves as a functional demonstration model to prove this sorting concept, leaving room for further engineering and customization based on the end-user's specific requirements</a:t>
            </a:r>
            <a:r>
              <a:rPr lang="en-US" sz="2000" b="1">
                <a:solidFill>
                  <a:srgbClr val="002060"/>
                </a:solidFill>
                <a:latin typeface="Calibri Light"/>
                <a:ea typeface="Calibri Light"/>
                <a:cs typeface="Calibri Light"/>
              </a:rPr>
              <a:t>. The entire sorting operation is controlled by an ESP32 MCU, which precisely coordinates the timing commands sent to the respective servo motors for timely engagement and release. To ensure electrical safety and eliminate the risk of component burnouts, a dedicated boost converter was integrated into the prototype to safely supply stable power to all four servo motors simultaneously. While the proof-of-concept model is constructed from lightweight foam and cardboard sheets for rapid prototyping, the functional sorting mechanism located at the base dynamically adjusts its position based on control signals. These directives are handled by the ESP32, which seamlessly receives real-time classification results from the main evaluation unit over a UART communication protocol.</a:t>
            </a:r>
          </a:p>
        </p:txBody>
      </p:sp>
    </p:spTree>
    <p:extLst>
      <p:ext uri="{BB962C8B-B14F-4D97-AF65-F5344CB8AC3E}">
        <p14:creationId xmlns:p14="http://schemas.microsoft.com/office/powerpoint/2010/main" val="1594077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6745EF1B-78AA-8763-5583-21933922BB66}"/>
              </a:ext>
            </a:extLst>
          </p:cNvPr>
          <p:cNvGraphicFramePr>
            <a:graphicFrameLocks noGrp="1"/>
          </p:cNvGraphicFramePr>
          <p:nvPr>
            <p:ph idx="1"/>
            <p:extLst>
              <p:ext uri="{D42A27DB-BD31-4B8C-83A1-F6EECF244321}">
                <p14:modId xmlns:p14="http://schemas.microsoft.com/office/powerpoint/2010/main" val="1930865529"/>
              </p:ext>
            </p:extLst>
          </p:nvPr>
        </p:nvGraphicFramePr>
        <p:xfrm>
          <a:off x="167013" y="1263041"/>
          <a:ext cx="11856750" cy="5084164"/>
        </p:xfrm>
        <a:graphic>
          <a:graphicData uri="http://schemas.openxmlformats.org/drawingml/2006/table">
            <a:tbl>
              <a:tblPr firstRow="1" bandRow="1">
                <a:tableStyleId>{073A0DAA-6AF3-43AB-8588-CEC1D06C72B9}</a:tableStyleId>
              </a:tblPr>
              <a:tblGrid>
                <a:gridCol w="3487828">
                  <a:extLst>
                    <a:ext uri="{9D8B030D-6E8A-4147-A177-3AD203B41FA5}">
                      <a16:colId xmlns:a16="http://schemas.microsoft.com/office/drawing/2014/main" val="139485882"/>
                    </a:ext>
                  </a:extLst>
                </a:gridCol>
                <a:gridCol w="3880036">
                  <a:extLst>
                    <a:ext uri="{9D8B030D-6E8A-4147-A177-3AD203B41FA5}">
                      <a16:colId xmlns:a16="http://schemas.microsoft.com/office/drawing/2014/main" val="3438799308"/>
                    </a:ext>
                  </a:extLst>
                </a:gridCol>
                <a:gridCol w="4488886">
                  <a:extLst>
                    <a:ext uri="{9D8B030D-6E8A-4147-A177-3AD203B41FA5}">
                      <a16:colId xmlns:a16="http://schemas.microsoft.com/office/drawing/2014/main" val="3680493392"/>
                    </a:ext>
                  </a:extLst>
                </a:gridCol>
              </a:tblGrid>
              <a:tr h="798929">
                <a:tc>
                  <a:txBody>
                    <a:bodyPr/>
                    <a:lstStyle/>
                    <a:p>
                      <a:pPr algn="ctr"/>
                      <a:r>
                        <a:rPr lang="en-US" b="1">
                          <a:solidFill>
                            <a:schemeClr val="bg1"/>
                          </a:solidFill>
                          <a:latin typeface="Times New Roman"/>
                          <a:cs typeface="Times New Roman"/>
                        </a:rPr>
                        <a:t>RESEARCH PAPER</a:t>
                      </a:r>
                    </a:p>
                  </a:txBody>
                  <a:tcPr/>
                </a:tc>
                <a:tc>
                  <a:txBody>
                    <a:bodyPr/>
                    <a:lstStyle/>
                    <a:p>
                      <a:pPr lvl="0" algn="ctr">
                        <a:buNone/>
                      </a:pPr>
                      <a:r>
                        <a:rPr lang="en-US" sz="1800" b="1" u="none" strike="noStrike" noProof="0">
                          <a:solidFill>
                            <a:schemeClr val="bg1"/>
                          </a:solidFill>
                          <a:latin typeface="Times New Roman"/>
                          <a:cs typeface="Times New Roman"/>
                        </a:rPr>
                        <a:t>AUTHORS AND YEAR OF PUBLISHING</a:t>
                      </a:r>
                      <a:endParaRPr lang="en-US" sz="1800" b="1" i="0" u="none" strike="noStrike" noProof="0">
                        <a:solidFill>
                          <a:schemeClr val="bg1"/>
                        </a:solidFill>
                        <a:latin typeface="Times New Roman"/>
                        <a:cs typeface="Times New Roman"/>
                      </a:endParaRPr>
                    </a:p>
                  </a:txBody>
                  <a:tcPr/>
                </a:tc>
                <a:tc>
                  <a:txBody>
                    <a:bodyPr/>
                    <a:lstStyle/>
                    <a:p>
                      <a:pPr algn="ctr"/>
                      <a:r>
                        <a:rPr lang="en-US" b="1">
                          <a:solidFill>
                            <a:schemeClr val="bg1"/>
                          </a:solidFill>
                          <a:latin typeface="Times New Roman"/>
                          <a:cs typeface="Times New Roman"/>
                        </a:rPr>
                        <a:t>CONTRIBUTIONS IN THE PAPER</a:t>
                      </a:r>
                    </a:p>
                  </a:txBody>
                  <a:tcPr/>
                </a:tc>
                <a:extLst>
                  <a:ext uri="{0D108BD9-81ED-4DB2-BD59-A6C34878D82A}">
                    <a16:rowId xmlns:a16="http://schemas.microsoft.com/office/drawing/2014/main" val="1817044176"/>
                  </a:ext>
                </a:extLst>
              </a:tr>
              <a:tr h="2146638">
                <a:tc>
                  <a:txBody>
                    <a:bodyPr/>
                    <a:lstStyle/>
                    <a:p>
                      <a:pPr lvl="0">
                        <a:buNone/>
                      </a:pPr>
                      <a:r>
                        <a:rPr lang="en-US" sz="1800" b="0" i="1" u="none" strike="noStrike" noProof="0">
                          <a:latin typeface="Calibri"/>
                        </a:rPr>
                        <a:t>A co-estimation framework for state of charge and parameters of lithium-ion battery with robustness to aging and usage conditions</a:t>
                      </a:r>
                      <a:r>
                        <a:rPr lang="en-US" sz="1800" b="0" i="0" u="none" strike="noStrike" noProof="0">
                          <a:latin typeface="Calibri"/>
                        </a:rPr>
                        <a:t>.</a:t>
                      </a:r>
                      <a:endParaRPr lang="en-US"/>
                    </a:p>
                  </a:txBody>
                  <a:tcPr/>
                </a:tc>
                <a:tc>
                  <a:txBody>
                    <a:bodyPr/>
                    <a:lstStyle/>
                    <a:p>
                      <a:pPr lvl="0">
                        <a:buNone/>
                      </a:pPr>
                      <a:r>
                        <a:rPr lang="en-US" sz="1800" b="0" i="0" u="none" strike="noStrike" noProof="0">
                          <a:latin typeface="Calibri"/>
                        </a:rPr>
                        <a:t>                                                                                          Natella, D., Onori, S., &amp; Vasca, F. (2022)</a:t>
                      </a:r>
                      <a:endParaRPr lang="en-US"/>
                    </a:p>
                  </a:txBody>
                  <a:tcPr/>
                </a:tc>
                <a:tc>
                  <a:txBody>
                    <a:bodyPr/>
                    <a:lstStyle/>
                    <a:p>
                      <a:pPr lvl="0">
                        <a:buNone/>
                      </a:pPr>
                      <a:r>
                        <a:rPr lang="en-US" sz="1800" b="0" i="0" u="none" strike="noStrike" noProof="0">
                          <a:latin typeface="Calibri"/>
                        </a:rPr>
                        <a:t>Proposed a robust co-estimation framework (SOC + battery parameters) using recursive least-squares + observer techniques. This is useful because aging affects model parameters; this method shows how you can track parameters over battery life, which can tie into SOH estimation.</a:t>
                      </a:r>
                      <a:endParaRPr lang="en-US"/>
                    </a:p>
                  </a:txBody>
                  <a:tcPr/>
                </a:tc>
                <a:extLst>
                  <a:ext uri="{0D108BD9-81ED-4DB2-BD59-A6C34878D82A}">
                    <a16:rowId xmlns:a16="http://schemas.microsoft.com/office/drawing/2014/main" val="1539574810"/>
                  </a:ext>
                </a:extLst>
              </a:tr>
              <a:tr h="2138597">
                <a:tc>
                  <a:txBody>
                    <a:bodyPr/>
                    <a:lstStyle/>
                    <a:p>
                      <a:pPr lvl="0">
                        <a:buNone/>
                      </a:pPr>
                      <a:r>
                        <a:rPr lang="en-US" sz="1800" b="0" i="0" u="none" strike="noStrike" noProof="0">
                          <a:latin typeface="Calibri"/>
                        </a:rPr>
                        <a:t>Co-Estimation of State of Charge and State of Health for Lithium-Ion Batteries Using an Enhanced Electrochemical Model.</a:t>
                      </a:r>
                      <a:endParaRPr lang="en-US"/>
                    </a:p>
                  </a:txBody>
                  <a:tcPr/>
                </a:tc>
                <a:tc>
                  <a:txBody>
                    <a:bodyPr/>
                    <a:lstStyle/>
                    <a:p>
                      <a:pPr lvl="0">
                        <a:buNone/>
                      </a:pPr>
                      <a:r>
                        <a:rPr lang="en-US" sz="1800" b="0" i="0" u="none" strike="noStrike" noProof="0">
                          <a:latin typeface="Calibri"/>
                        </a:rPr>
                        <a:t>                                                                          Gao, Y., Liu, K., Zhu, C., Zhang, X., &amp; Zhang, D. (2022)</a:t>
                      </a:r>
                      <a:endParaRPr lang="en-US"/>
                    </a:p>
                  </a:txBody>
                  <a:tcPr/>
                </a:tc>
                <a:tc>
                  <a:txBody>
                    <a:bodyPr/>
                    <a:lstStyle/>
                    <a:p>
                      <a:pPr lvl="0">
                        <a:buNone/>
                      </a:pPr>
                      <a:r>
                        <a:rPr lang="en-US" sz="1800" b="0" i="0" u="none" strike="noStrike" noProof="0">
                          <a:latin typeface="Calibri"/>
                        </a:rPr>
                        <a:t>Used an electrochemical equivalent-circuit model + estimation technique to co-estimate SOC and SOH. Helps in understanding how model-based SOH estimation is done in real world.</a:t>
                      </a:r>
                      <a:endParaRPr lang="en-US"/>
                    </a:p>
                  </a:txBody>
                  <a:tcPr/>
                </a:tc>
                <a:extLst>
                  <a:ext uri="{0D108BD9-81ED-4DB2-BD59-A6C34878D82A}">
                    <a16:rowId xmlns:a16="http://schemas.microsoft.com/office/drawing/2014/main" val="1287314747"/>
                  </a:ext>
                </a:extLst>
              </a:tr>
            </a:tbl>
          </a:graphicData>
        </a:graphic>
      </p:graphicFrame>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10</a:t>
            </a:fld>
            <a:endParaRPr lang="en-IN"/>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1125457" y="145670"/>
            <a:ext cx="9939866" cy="943186"/>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a:latin typeface="Times New Roman" panose="02020603050405020304" pitchFamily="18" charset="0"/>
                <a:cs typeface="Times New Roman" panose="02020603050405020304" pitchFamily="18" charset="0"/>
              </a:rPr>
              <a:t>LITERATURE REVIEW</a:t>
            </a:r>
          </a:p>
        </p:txBody>
      </p:sp>
      <p:pic>
        <p:nvPicPr>
          <p:cNvPr id="6" name="Picture 5">
            <a:extLst>
              <a:ext uri="{FF2B5EF4-FFF2-40B4-BE49-F238E27FC236}">
                <a16:creationId xmlns:a16="http://schemas.microsoft.com/office/drawing/2014/main" id="{7E81EAA2-E7CE-0DDA-0262-0B718152B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102"/>
            <a:ext cx="2362530" cy="1076475"/>
          </a:xfrm>
          <a:prstGeom prst="rect">
            <a:avLst/>
          </a:prstGeom>
        </p:spPr>
      </p:pic>
      <p:pic>
        <p:nvPicPr>
          <p:cNvPr id="7" name="Picture 6">
            <a:extLst>
              <a:ext uri="{FF2B5EF4-FFF2-40B4-BE49-F238E27FC236}">
                <a16:creationId xmlns:a16="http://schemas.microsoft.com/office/drawing/2014/main" id="{DA9BC308-14E8-27EB-EDFD-C8EFF190E2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98157"/>
            <a:ext cx="2324424" cy="438211"/>
          </a:xfrm>
          <a:prstGeom prst="rect">
            <a:avLst/>
          </a:prstGeom>
        </p:spPr>
      </p:pic>
    </p:spTree>
    <p:extLst>
      <p:ext uri="{BB962C8B-B14F-4D97-AF65-F5344CB8AC3E}">
        <p14:creationId xmlns:p14="http://schemas.microsoft.com/office/powerpoint/2010/main" val="1435418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DC99-5DD6-AF5E-051C-EAAE7924CAE5}"/>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065DBB9-FBAA-E179-5935-65037E6BC9C1}"/>
              </a:ext>
            </a:extLst>
          </p:cNvPr>
          <p:cNvGraphicFramePr>
            <a:graphicFrameLocks noGrp="1"/>
          </p:cNvGraphicFramePr>
          <p:nvPr>
            <p:ph idx="1"/>
            <p:extLst>
              <p:ext uri="{D42A27DB-BD31-4B8C-83A1-F6EECF244321}">
                <p14:modId xmlns:p14="http://schemas.microsoft.com/office/powerpoint/2010/main" val="524502693"/>
              </p:ext>
            </p:extLst>
          </p:nvPr>
        </p:nvGraphicFramePr>
        <p:xfrm>
          <a:off x="167013" y="1263041"/>
          <a:ext cx="11856750" cy="5084164"/>
        </p:xfrm>
        <a:graphic>
          <a:graphicData uri="http://schemas.openxmlformats.org/drawingml/2006/table">
            <a:tbl>
              <a:tblPr firstRow="1" bandRow="1">
                <a:tableStyleId>{073A0DAA-6AF3-43AB-8588-CEC1D06C72B9}</a:tableStyleId>
              </a:tblPr>
              <a:tblGrid>
                <a:gridCol w="3487828">
                  <a:extLst>
                    <a:ext uri="{9D8B030D-6E8A-4147-A177-3AD203B41FA5}">
                      <a16:colId xmlns:a16="http://schemas.microsoft.com/office/drawing/2014/main" val="139485882"/>
                    </a:ext>
                  </a:extLst>
                </a:gridCol>
                <a:gridCol w="3880036">
                  <a:extLst>
                    <a:ext uri="{9D8B030D-6E8A-4147-A177-3AD203B41FA5}">
                      <a16:colId xmlns:a16="http://schemas.microsoft.com/office/drawing/2014/main" val="3438799308"/>
                    </a:ext>
                  </a:extLst>
                </a:gridCol>
                <a:gridCol w="4488886">
                  <a:extLst>
                    <a:ext uri="{9D8B030D-6E8A-4147-A177-3AD203B41FA5}">
                      <a16:colId xmlns:a16="http://schemas.microsoft.com/office/drawing/2014/main" val="3680493392"/>
                    </a:ext>
                  </a:extLst>
                </a:gridCol>
              </a:tblGrid>
              <a:tr h="798929">
                <a:tc>
                  <a:txBody>
                    <a:bodyPr/>
                    <a:lstStyle/>
                    <a:p>
                      <a:pPr algn="ctr"/>
                      <a:r>
                        <a:rPr lang="en-US" b="1">
                          <a:solidFill>
                            <a:schemeClr val="bg1"/>
                          </a:solidFill>
                          <a:latin typeface="Times New Roman"/>
                          <a:cs typeface="Times New Roman"/>
                        </a:rPr>
                        <a:t>RESEARCH PAPER</a:t>
                      </a:r>
                    </a:p>
                  </a:txBody>
                  <a:tcPr/>
                </a:tc>
                <a:tc>
                  <a:txBody>
                    <a:bodyPr/>
                    <a:lstStyle/>
                    <a:p>
                      <a:pPr lvl="0" algn="ctr">
                        <a:buNone/>
                      </a:pPr>
                      <a:r>
                        <a:rPr lang="en-US" sz="1800" b="1" u="none" strike="noStrike" noProof="0">
                          <a:solidFill>
                            <a:schemeClr val="bg1"/>
                          </a:solidFill>
                          <a:latin typeface="Times New Roman"/>
                          <a:cs typeface="Times New Roman"/>
                        </a:rPr>
                        <a:t>AUTHORS AND YEAR OF PUBLISHING</a:t>
                      </a:r>
                      <a:endParaRPr lang="en-US" sz="1800" b="1" i="0" u="none" strike="noStrike" noProof="0">
                        <a:solidFill>
                          <a:schemeClr val="bg1"/>
                        </a:solidFill>
                        <a:latin typeface="Times New Roman"/>
                        <a:cs typeface="Times New Roman"/>
                      </a:endParaRPr>
                    </a:p>
                  </a:txBody>
                  <a:tcPr/>
                </a:tc>
                <a:tc>
                  <a:txBody>
                    <a:bodyPr/>
                    <a:lstStyle/>
                    <a:p>
                      <a:pPr algn="ctr"/>
                      <a:r>
                        <a:rPr lang="en-US" b="1">
                          <a:solidFill>
                            <a:schemeClr val="bg1"/>
                          </a:solidFill>
                          <a:latin typeface="Times New Roman"/>
                          <a:cs typeface="Times New Roman"/>
                        </a:rPr>
                        <a:t>CONTRIBUTIONS IN THE PAPER</a:t>
                      </a:r>
                    </a:p>
                  </a:txBody>
                  <a:tcPr/>
                </a:tc>
                <a:extLst>
                  <a:ext uri="{0D108BD9-81ED-4DB2-BD59-A6C34878D82A}">
                    <a16:rowId xmlns:a16="http://schemas.microsoft.com/office/drawing/2014/main" val="1817044176"/>
                  </a:ext>
                </a:extLst>
              </a:tr>
              <a:tr h="2146638">
                <a:tc>
                  <a:txBody>
                    <a:bodyPr/>
                    <a:lstStyle/>
                    <a:p>
                      <a:pPr lvl="0" algn="l">
                        <a:lnSpc>
                          <a:spcPct val="100000"/>
                        </a:lnSpc>
                        <a:spcBef>
                          <a:spcPts val="0"/>
                        </a:spcBef>
                        <a:spcAft>
                          <a:spcPts val="0"/>
                        </a:spcAft>
                        <a:buNone/>
                      </a:pPr>
                      <a:r>
                        <a:rPr lang="en-US" sz="1800" b="0" i="0" u="none" strike="noStrike" noProof="0"/>
                        <a:t>Lithium Battery Health and Capacity : Estimation Techniques Using Embedded </a:t>
                      </a:r>
                      <a:endParaRPr lang="en-US"/>
                    </a:p>
                    <a:p>
                      <a:pPr lvl="0" algn="l">
                        <a:lnSpc>
                          <a:spcPct val="100000"/>
                        </a:lnSpc>
                        <a:spcBef>
                          <a:spcPts val="0"/>
                        </a:spcBef>
                        <a:spcAft>
                          <a:spcPts val="0"/>
                        </a:spcAft>
                        <a:buNone/>
                      </a:pPr>
                      <a:r>
                        <a:rPr lang="en-US" sz="1800" b="0" i="0" u="none" strike="noStrike" noProof="0"/>
                        <a:t>Electronics</a:t>
                      </a:r>
                      <a:endParaRPr lang="en-US"/>
                    </a:p>
                    <a:p>
                      <a:pPr lvl="0">
                        <a:buNone/>
                      </a:pPr>
                      <a:endParaRPr lang="en-US" sz="1800" b="0" i="0" u="none" strike="noStrike" noProof="0">
                        <a:latin typeface="Calibri"/>
                      </a:endParaRPr>
                    </a:p>
                  </a:txBody>
                  <a:tcPr/>
                </a:tc>
                <a:tc>
                  <a:txBody>
                    <a:bodyPr/>
                    <a:lstStyle/>
                    <a:p>
                      <a:pPr lvl="0">
                        <a:buNone/>
                      </a:pPr>
                      <a:r>
                        <a:rPr lang="en-US" sz="1800" b="0" i="0" u="none" strike="noStrike" noProof="0">
                          <a:latin typeface="Calibri"/>
                        </a:rPr>
                        <a:t>                                                             </a:t>
                      </a:r>
                      <a:r>
                        <a:rPr lang="en-US" sz="1800" b="0" i="0" u="none" strike="noStrike" noProof="0"/>
                        <a:t>Derek Heeger, Mike Partridge, Von Trullinger, Dan Wesolowski (2017)</a:t>
                      </a:r>
                      <a:r>
                        <a:rPr lang="en-US" sz="1800" b="0" i="0" u="none" strike="noStrike" noProof="0">
                          <a:latin typeface="Calibri"/>
                        </a:rPr>
                        <a:t>                                                                    </a:t>
                      </a:r>
                    </a:p>
                  </a:txBody>
                  <a:tcPr/>
                </a:tc>
                <a:tc>
                  <a:txBody>
                    <a:bodyPr/>
                    <a:lstStyle/>
                    <a:p>
                      <a:pPr marL="0" lvl="0" indent="0" algn="l">
                        <a:lnSpc>
                          <a:spcPct val="100000"/>
                        </a:lnSpc>
                        <a:spcBef>
                          <a:spcPts val="0"/>
                        </a:spcBef>
                        <a:spcAft>
                          <a:spcPts val="0"/>
                        </a:spcAft>
                        <a:buNone/>
                      </a:pPr>
                      <a:r>
                        <a:rPr lang="en-US" sz="1800" b="0" i="0" u="none" strike="noStrike" noProof="0"/>
                        <a:t>Shows that battery SOH can be estimated using low-cost embedded electronics, without expensive lab tools. It proves that pulse/voltage-response signals and resistance changes contain reliable health information.</a:t>
                      </a:r>
                      <a:endParaRPr lang="en-US"/>
                    </a:p>
                    <a:p>
                      <a:pPr marL="0" lvl="0" indent="0" algn="l">
                        <a:lnSpc>
                          <a:spcPct val="100000"/>
                        </a:lnSpc>
                        <a:spcBef>
                          <a:spcPts val="0"/>
                        </a:spcBef>
                        <a:spcAft>
                          <a:spcPts val="0"/>
                        </a:spcAft>
                        <a:buNone/>
                      </a:pPr>
                      <a:endParaRPr lang="en-US" sz="1800" b="0" i="0" u="none" strike="noStrike" noProof="0"/>
                    </a:p>
                    <a:p>
                      <a:pPr lvl="0">
                        <a:buNone/>
                      </a:pPr>
                      <a:endParaRPr lang="en-US" sz="1800" b="0" i="0" u="none" strike="noStrike" noProof="0">
                        <a:latin typeface="Calibri"/>
                      </a:endParaRPr>
                    </a:p>
                  </a:txBody>
                  <a:tcPr/>
                </a:tc>
                <a:extLst>
                  <a:ext uri="{0D108BD9-81ED-4DB2-BD59-A6C34878D82A}">
                    <a16:rowId xmlns:a16="http://schemas.microsoft.com/office/drawing/2014/main" val="1539574810"/>
                  </a:ext>
                </a:extLst>
              </a:tr>
              <a:tr h="2138597">
                <a:tc>
                  <a:txBody>
                    <a:bodyPr/>
                    <a:lstStyle/>
                    <a:p>
                      <a:pPr lvl="0" algn="l">
                        <a:lnSpc>
                          <a:spcPct val="100000"/>
                        </a:lnSpc>
                        <a:spcBef>
                          <a:spcPts val="0"/>
                        </a:spcBef>
                        <a:spcAft>
                          <a:spcPts val="0"/>
                        </a:spcAft>
                        <a:buNone/>
                      </a:pPr>
                      <a:r>
                        <a:rPr lang="en-US" sz="1800" b="0" i="0">
                          <a:solidFill>
                            <a:srgbClr val="333333"/>
                          </a:solidFill>
                        </a:rPr>
                        <a:t>Practical Broadband Measurement of Battery EIS</a:t>
                      </a:r>
                      <a:r>
                        <a:rPr lang="en-US" sz="2400" b="1" i="0">
                          <a:solidFill>
                            <a:srgbClr val="333333"/>
                          </a:solidFill>
                        </a:rPr>
                        <a:t> </a:t>
                      </a:r>
                      <a:endParaRPr lang="en-US"/>
                    </a:p>
                    <a:p>
                      <a:pPr lvl="0">
                        <a:buNone/>
                      </a:pPr>
                      <a:endParaRPr lang="en-US" sz="1800" b="0" i="0" u="none" strike="noStrike" noProof="0">
                        <a:latin typeface="Calibri"/>
                      </a:endParaRPr>
                    </a:p>
                  </a:txBody>
                  <a:tcPr/>
                </a:tc>
                <a:tc>
                  <a:txBody>
                    <a:bodyPr/>
                    <a:lstStyle/>
                    <a:p>
                      <a:pPr lvl="0">
                        <a:buNone/>
                      </a:pPr>
                      <a:r>
                        <a:rPr lang="en-US" sz="1800" b="0" i="0" u="none" strike="noStrike" noProof="0">
                          <a:latin typeface="Calibri"/>
                        </a:rPr>
                        <a:t>Alessio De Angelis, Emanuele </a:t>
                      </a:r>
                      <a:r>
                        <a:rPr lang="en-US" sz="1800" b="0" i="0" u="none" strike="noStrike" noProof="0" err="1">
                          <a:latin typeface="Calibri"/>
                        </a:rPr>
                        <a:t>Buchicchio</a:t>
                      </a:r>
                      <a:r>
                        <a:rPr lang="en-US" sz="1800" b="0" i="0" u="none" strike="noStrike" noProof="0">
                          <a:latin typeface="Calibri"/>
                        </a:rPr>
                        <a:t>, Francesco Santoni, Antonio, Paolo Carbone (2021)                                                                      </a:t>
                      </a:r>
                    </a:p>
                  </a:txBody>
                  <a:tcPr/>
                </a:tc>
                <a:tc>
                  <a:txBody>
                    <a:bodyPr/>
                    <a:lstStyle/>
                    <a:p>
                      <a:pPr lvl="0">
                        <a:buNone/>
                      </a:pPr>
                      <a:r>
                        <a:rPr lang="en-US" sz="1800" b="0" i="0" u="none" strike="noStrike" noProof="0"/>
                        <a:t>presents a low-complexity, flexible system for battery electrochemical impedance spectroscopy (EIS). It introduces broadband </a:t>
                      </a:r>
                      <a:r>
                        <a:rPr lang="en-US" sz="1800" b="0" i="0" u="none" strike="noStrike" noProof="0" err="1"/>
                        <a:t>multisine</a:t>
                      </a:r>
                      <a:r>
                        <a:rPr lang="en-US" sz="1800" b="0" i="0" u="none" strike="noStrike" noProof="0"/>
                        <a:t> excitation to achieve faster measurements compared to the conventional stepped-sine method.</a:t>
                      </a:r>
                      <a:endParaRPr lang="en-US" b="0"/>
                    </a:p>
                  </a:txBody>
                  <a:tcPr/>
                </a:tc>
                <a:extLst>
                  <a:ext uri="{0D108BD9-81ED-4DB2-BD59-A6C34878D82A}">
                    <a16:rowId xmlns:a16="http://schemas.microsoft.com/office/drawing/2014/main" val="1287314747"/>
                  </a:ext>
                </a:extLst>
              </a:tr>
            </a:tbl>
          </a:graphicData>
        </a:graphic>
      </p:graphicFrame>
      <p:sp>
        <p:nvSpPr>
          <p:cNvPr id="4" name="Slide Number Placeholder 3">
            <a:extLst>
              <a:ext uri="{FF2B5EF4-FFF2-40B4-BE49-F238E27FC236}">
                <a16:creationId xmlns:a16="http://schemas.microsoft.com/office/drawing/2014/main" id="{3EE33DDE-CFF1-59CF-A897-A2D8D9F2E30D}"/>
              </a:ext>
            </a:extLst>
          </p:cNvPr>
          <p:cNvSpPr>
            <a:spLocks noGrp="1"/>
          </p:cNvSpPr>
          <p:nvPr>
            <p:ph type="sldNum" sz="quarter" idx="12"/>
          </p:nvPr>
        </p:nvSpPr>
        <p:spPr/>
        <p:txBody>
          <a:bodyPr/>
          <a:lstStyle/>
          <a:p>
            <a:fld id="{9BA15CD2-76D6-4EFE-91D9-7087332E3318}" type="slidenum">
              <a:rPr lang="en-IN" smtClean="0"/>
              <a:pPr/>
              <a:t>11</a:t>
            </a:fld>
            <a:endParaRPr lang="en-IN"/>
          </a:p>
        </p:txBody>
      </p:sp>
      <p:sp>
        <p:nvSpPr>
          <p:cNvPr id="5" name="Title 1">
            <a:extLst>
              <a:ext uri="{FF2B5EF4-FFF2-40B4-BE49-F238E27FC236}">
                <a16:creationId xmlns:a16="http://schemas.microsoft.com/office/drawing/2014/main" id="{7041C0B7-08C7-C0AF-A1BB-22A5FEB0F464}"/>
              </a:ext>
            </a:extLst>
          </p:cNvPr>
          <p:cNvSpPr txBox="1">
            <a:spLocks/>
          </p:cNvSpPr>
          <p:nvPr/>
        </p:nvSpPr>
        <p:spPr>
          <a:xfrm>
            <a:off x="1125457" y="145670"/>
            <a:ext cx="9939866" cy="943186"/>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a:latin typeface="Times New Roman" panose="02020603050405020304" pitchFamily="18" charset="0"/>
                <a:cs typeface="Times New Roman" panose="02020603050405020304" pitchFamily="18" charset="0"/>
              </a:rPr>
              <a:t>LITERATURE REVIEW</a:t>
            </a:r>
          </a:p>
        </p:txBody>
      </p:sp>
      <p:pic>
        <p:nvPicPr>
          <p:cNvPr id="6" name="Picture 5">
            <a:extLst>
              <a:ext uri="{FF2B5EF4-FFF2-40B4-BE49-F238E27FC236}">
                <a16:creationId xmlns:a16="http://schemas.microsoft.com/office/drawing/2014/main" id="{6FB45E32-F5C9-C07A-A8C1-5072DC919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102"/>
            <a:ext cx="2362530" cy="1076475"/>
          </a:xfrm>
          <a:prstGeom prst="rect">
            <a:avLst/>
          </a:prstGeom>
        </p:spPr>
      </p:pic>
      <p:pic>
        <p:nvPicPr>
          <p:cNvPr id="7" name="Picture 6">
            <a:extLst>
              <a:ext uri="{FF2B5EF4-FFF2-40B4-BE49-F238E27FC236}">
                <a16:creationId xmlns:a16="http://schemas.microsoft.com/office/drawing/2014/main" id="{56618CC7-03E9-35FA-E186-E22B4AEF9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376" y="398157"/>
            <a:ext cx="2324424" cy="438211"/>
          </a:xfrm>
          <a:prstGeom prst="rect">
            <a:avLst/>
          </a:prstGeom>
        </p:spPr>
      </p:pic>
    </p:spTree>
    <p:extLst>
      <p:ext uri="{BB962C8B-B14F-4D97-AF65-F5344CB8AC3E}">
        <p14:creationId xmlns:p14="http://schemas.microsoft.com/office/powerpoint/2010/main" val="3983762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174811" y="1117600"/>
            <a:ext cx="11842377" cy="5229605"/>
          </a:xfrm>
        </p:spPr>
        <p:txBody>
          <a:bodyPr vert="horz" lIns="91440" tIns="45720" rIns="91440" bIns="45720" rtlCol="0" anchor="t">
            <a:normAutofit lnSpcReduction="10000"/>
          </a:bodyPr>
          <a:lstStyle/>
          <a:p>
            <a:r>
              <a:rPr lang="en-IN" b="1">
                <a:latin typeface="Calibri Light"/>
                <a:ea typeface="Calibri Light"/>
                <a:cs typeface="Calibri Light"/>
              </a:rPr>
              <a:t>Successful Automation Layer:</a:t>
            </a:r>
            <a:r>
              <a:rPr lang="en-IN">
                <a:latin typeface="Calibri Light"/>
                <a:ea typeface="Calibri Light"/>
                <a:cs typeface="Calibri Light"/>
              </a:rPr>
              <a:t> We successfully designed and validated an automated sorting prototype controlled by an ESP32 microcontroller, drastically reducing cell handling time while paving the way for complete high-throughput screening.</a:t>
            </a:r>
          </a:p>
          <a:p>
            <a:r>
              <a:rPr lang="en-IN" b="1">
                <a:latin typeface="Calibri Light"/>
                <a:ea typeface="Calibri Light"/>
                <a:cs typeface="Calibri Light"/>
              </a:rPr>
              <a:t>Physics-Informed ML Accuracy:</a:t>
            </a:r>
            <a:r>
              <a:rPr lang="en-IN">
                <a:latin typeface="Calibri Light"/>
                <a:ea typeface="Calibri Light"/>
                <a:cs typeface="Calibri Light"/>
              </a:rPr>
              <a:t> By transitioning from raw data curves to four distinct physics-based features, the Random Forest model achieved highly efficient and interpretable battery grading without computational bloat.</a:t>
            </a:r>
          </a:p>
          <a:p>
            <a:r>
              <a:rPr lang="en-IN" b="1">
                <a:latin typeface="Calibri Light"/>
                <a:ea typeface="Calibri Light"/>
                <a:cs typeface="Calibri Light"/>
              </a:rPr>
              <a:t>Robust Hardware Infrastructure:</a:t>
            </a:r>
            <a:r>
              <a:rPr lang="en-IN">
                <a:latin typeface="Calibri Light"/>
                <a:ea typeface="Calibri Light"/>
                <a:cs typeface="Calibri Light"/>
              </a:rPr>
              <a:t> Integrating the ADS1115 16-bit ADC alongside an active LM358 constant-current load guaranteed millivolt-level precision and steady 1A pulse testing, making our data tracking exceptionally reliable.</a:t>
            </a:r>
          </a:p>
          <a:p>
            <a:r>
              <a:rPr lang="en-IN" b="1">
                <a:latin typeface="Calibri Light"/>
                <a:ea typeface="Calibri Light"/>
                <a:cs typeface="Calibri Light"/>
              </a:rPr>
              <a:t>Viable Second-Life Application:</a:t>
            </a:r>
            <a:r>
              <a:rPr lang="en-IN">
                <a:latin typeface="Calibri Light"/>
                <a:ea typeface="Calibri Light"/>
                <a:cs typeface="Calibri Light"/>
              </a:rPr>
              <a:t> This proof-of-concept prototype offers a cost-effective, rapid, and scalable screening pipeline perfect for sorting salvaged lithium-ion cells for sustainable second-life battery applications.</a:t>
            </a:r>
          </a:p>
          <a:p>
            <a:endParaRPr lang="en-IN">
              <a:latin typeface="Calibri Light"/>
              <a:ea typeface="Calibri Light"/>
              <a:cs typeface="Calibri Light"/>
            </a:endParaRPr>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12</a:t>
            </a:fld>
            <a:endParaRPr lang="en-IN"/>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023105" y="156556"/>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a:latin typeface="Times New Roman" panose="02020603050405020304" pitchFamily="18" charset="0"/>
                <a:cs typeface="Times New Roman" panose="02020603050405020304" pitchFamily="18" charset="0"/>
              </a:rPr>
              <a:t>CONCLUSION</a:t>
            </a:r>
          </a:p>
        </p:txBody>
      </p:sp>
      <p:pic>
        <p:nvPicPr>
          <p:cNvPr id="6" name="Picture 5">
            <a:extLst>
              <a:ext uri="{FF2B5EF4-FFF2-40B4-BE49-F238E27FC236}">
                <a16:creationId xmlns:a16="http://schemas.microsoft.com/office/drawing/2014/main" id="{F7376853-7335-353E-F0B7-2E53CC1768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125"/>
            <a:ext cx="2362530" cy="1076475"/>
          </a:xfrm>
          <a:prstGeom prst="rect">
            <a:avLst/>
          </a:prstGeom>
        </p:spPr>
      </p:pic>
      <p:pic>
        <p:nvPicPr>
          <p:cNvPr id="7" name="Picture 6">
            <a:extLst>
              <a:ext uri="{FF2B5EF4-FFF2-40B4-BE49-F238E27FC236}">
                <a16:creationId xmlns:a16="http://schemas.microsoft.com/office/drawing/2014/main" id="{03343BB7-ECE4-8D29-CA34-C261EB9635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3376" y="515844"/>
            <a:ext cx="2324424" cy="438211"/>
          </a:xfrm>
          <a:prstGeom prst="rect">
            <a:avLst/>
          </a:prstGeom>
        </p:spPr>
      </p:pic>
    </p:spTree>
    <p:extLst>
      <p:ext uri="{BB962C8B-B14F-4D97-AF65-F5344CB8AC3E}">
        <p14:creationId xmlns:p14="http://schemas.microsoft.com/office/powerpoint/2010/main" val="2237272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13</a:t>
            </a:fld>
            <a:endParaRPr lang="en-IN"/>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022708" y="21884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a:latin typeface="Times New Roman" panose="02020603050405020304" pitchFamily="18" charset="0"/>
                <a:cs typeface="Times New Roman" panose="02020603050405020304" pitchFamily="18" charset="0"/>
              </a:rPr>
              <a:t>REFERENCES</a:t>
            </a:r>
          </a:p>
        </p:txBody>
      </p:sp>
      <p:pic>
        <p:nvPicPr>
          <p:cNvPr id="6" name="Picture 5">
            <a:extLst>
              <a:ext uri="{FF2B5EF4-FFF2-40B4-BE49-F238E27FC236}">
                <a16:creationId xmlns:a16="http://schemas.microsoft.com/office/drawing/2014/main" id="{830B2C8A-2181-24C5-64AF-08695CE56D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125"/>
            <a:ext cx="2362530" cy="1076475"/>
          </a:xfrm>
          <a:prstGeom prst="rect">
            <a:avLst/>
          </a:prstGeom>
        </p:spPr>
      </p:pic>
      <p:pic>
        <p:nvPicPr>
          <p:cNvPr id="7" name="Picture 6">
            <a:extLst>
              <a:ext uri="{FF2B5EF4-FFF2-40B4-BE49-F238E27FC236}">
                <a16:creationId xmlns:a16="http://schemas.microsoft.com/office/drawing/2014/main" id="{B057D813-DFCC-1E13-9831-6EC3A1DC9B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8718" y="315248"/>
            <a:ext cx="2324424" cy="438211"/>
          </a:xfrm>
          <a:prstGeom prst="rect">
            <a:avLst/>
          </a:prstGeom>
        </p:spPr>
      </p:pic>
      <p:graphicFrame>
        <p:nvGraphicFramePr>
          <p:cNvPr id="8" name="Table 7">
            <a:extLst>
              <a:ext uri="{FF2B5EF4-FFF2-40B4-BE49-F238E27FC236}">
                <a16:creationId xmlns:a16="http://schemas.microsoft.com/office/drawing/2014/main" id="{4F74EA7F-2A1A-1342-70BD-FEB348DA02B9}"/>
              </a:ext>
            </a:extLst>
          </p:cNvPr>
          <p:cNvGraphicFramePr>
            <a:graphicFrameLocks noGrp="1"/>
          </p:cNvGraphicFramePr>
          <p:nvPr>
            <p:extLst>
              <p:ext uri="{D42A27DB-BD31-4B8C-83A1-F6EECF244321}">
                <p14:modId xmlns:p14="http://schemas.microsoft.com/office/powerpoint/2010/main" val="1707745135"/>
              </p:ext>
            </p:extLst>
          </p:nvPr>
        </p:nvGraphicFramePr>
        <p:xfrm>
          <a:off x="319314" y="1074057"/>
          <a:ext cx="11537834" cy="5185253"/>
        </p:xfrm>
        <a:graphic>
          <a:graphicData uri="http://schemas.openxmlformats.org/drawingml/2006/table">
            <a:tbl>
              <a:tblPr firstRow="1" bandRow="1">
                <a:tableStyleId>{073A0DAA-6AF3-43AB-8588-CEC1D06C72B9}</a:tableStyleId>
              </a:tblPr>
              <a:tblGrid>
                <a:gridCol w="5483678">
                  <a:extLst>
                    <a:ext uri="{9D8B030D-6E8A-4147-A177-3AD203B41FA5}">
                      <a16:colId xmlns:a16="http://schemas.microsoft.com/office/drawing/2014/main" val="2908424095"/>
                    </a:ext>
                  </a:extLst>
                </a:gridCol>
                <a:gridCol w="3459750">
                  <a:extLst>
                    <a:ext uri="{9D8B030D-6E8A-4147-A177-3AD203B41FA5}">
                      <a16:colId xmlns:a16="http://schemas.microsoft.com/office/drawing/2014/main" val="2535357353"/>
                    </a:ext>
                  </a:extLst>
                </a:gridCol>
                <a:gridCol w="2594406">
                  <a:extLst>
                    <a:ext uri="{9D8B030D-6E8A-4147-A177-3AD203B41FA5}">
                      <a16:colId xmlns:a16="http://schemas.microsoft.com/office/drawing/2014/main" val="2036137859"/>
                    </a:ext>
                  </a:extLst>
                </a:gridCol>
              </a:tblGrid>
              <a:tr h="613253">
                <a:tc>
                  <a:txBody>
                    <a:bodyPr/>
                    <a:lstStyle/>
                    <a:p>
                      <a:pPr algn="ctr"/>
                      <a:r>
                        <a:rPr lang="en-IN"/>
                        <a:t>TITLE </a:t>
                      </a:r>
                    </a:p>
                  </a:txBody>
                  <a:tcPr/>
                </a:tc>
                <a:tc>
                  <a:txBody>
                    <a:bodyPr/>
                    <a:lstStyle/>
                    <a:p>
                      <a:pPr algn="ctr"/>
                      <a:r>
                        <a:rPr lang="en-IN"/>
                        <a:t>AUTHORS</a:t>
                      </a:r>
                    </a:p>
                  </a:txBody>
                  <a:tcPr/>
                </a:tc>
                <a:tc>
                  <a:txBody>
                    <a:bodyPr/>
                    <a:lstStyle/>
                    <a:p>
                      <a:pPr algn="ctr"/>
                      <a:r>
                        <a:rPr lang="en-IN"/>
                        <a:t>YEAR OF PUBLICATION </a:t>
                      </a:r>
                    </a:p>
                  </a:txBody>
                  <a:tcPr/>
                </a:tc>
                <a:extLst>
                  <a:ext uri="{0D108BD9-81ED-4DB2-BD59-A6C34878D82A}">
                    <a16:rowId xmlns:a16="http://schemas.microsoft.com/office/drawing/2014/main" val="2183902849"/>
                  </a:ext>
                </a:extLst>
              </a:tr>
              <a:tr h="850442">
                <a:tc>
                  <a:txBody>
                    <a:bodyPr/>
                    <a:lstStyle/>
                    <a:p>
                      <a:pPr lvl="0" algn="l">
                        <a:lnSpc>
                          <a:spcPct val="100000"/>
                        </a:lnSpc>
                        <a:spcBef>
                          <a:spcPts val="0"/>
                        </a:spcBef>
                        <a:spcAft>
                          <a:spcPts val="0"/>
                        </a:spcAft>
                        <a:buNone/>
                      </a:pPr>
                      <a:r>
                        <a:rPr lang="en-US" sz="1800" b="0" i="1" u="none" strike="noStrike" noProof="0">
                          <a:solidFill>
                            <a:srgbClr val="000000"/>
                          </a:solidFill>
                          <a:latin typeface="Calibri"/>
                        </a:rPr>
                        <a:t>A co-estimation framework for state of charge and parameters of lithium-ion battery with robustness to aging and usage conditions</a:t>
                      </a:r>
                      <a:r>
                        <a:rPr lang="en-US" sz="1800" b="0" i="0" u="none" strike="noStrike" noProof="0">
                          <a:solidFill>
                            <a:srgbClr val="000000"/>
                          </a:solidFill>
                          <a:latin typeface="Calibri"/>
                        </a:rPr>
                        <a:t>.</a:t>
                      </a:r>
                      <a:endParaRPr lang="en-IN" sz="1800" b="0" i="0" u="none" strike="noStrike" noProof="0">
                        <a:solidFill>
                          <a:srgbClr val="000000"/>
                        </a:solidFill>
                        <a:latin typeface="Calibri"/>
                      </a:endParaRPr>
                    </a:p>
                    <a:p>
                      <a:pPr lvl="0">
                        <a:buNone/>
                      </a:pPr>
                      <a:endParaRPr lang="en-IN"/>
                    </a:p>
                  </a:txBody>
                  <a:tcPr/>
                </a:tc>
                <a:tc>
                  <a:txBody>
                    <a:bodyPr/>
                    <a:lstStyle/>
                    <a:p>
                      <a:pPr lvl="0">
                        <a:buNone/>
                      </a:pPr>
                      <a:r>
                        <a:rPr lang="en-US" sz="1800" b="0" i="0" u="none" strike="noStrike" noProof="0">
                          <a:solidFill>
                            <a:srgbClr val="000000"/>
                          </a:solidFill>
                          <a:latin typeface="Calibri"/>
                        </a:rPr>
                        <a:t>Natella, D., Onori, S., &amp; </a:t>
                      </a:r>
                      <a:r>
                        <a:rPr lang="en-US" sz="1800" b="0" i="0" u="none" strike="noStrike" noProof="0" err="1">
                          <a:solidFill>
                            <a:srgbClr val="000000"/>
                          </a:solidFill>
                          <a:latin typeface="Calibri"/>
                        </a:rPr>
                        <a:t>Vasca</a:t>
                      </a:r>
                      <a:r>
                        <a:rPr lang="en-US" sz="1800" b="0" i="0" u="none" strike="noStrike" noProof="0">
                          <a:solidFill>
                            <a:srgbClr val="000000"/>
                          </a:solidFill>
                          <a:latin typeface="Calibri"/>
                        </a:rPr>
                        <a:t>, F. </a:t>
                      </a:r>
                    </a:p>
                  </a:txBody>
                  <a:tcPr/>
                </a:tc>
                <a:tc>
                  <a:txBody>
                    <a:bodyPr/>
                    <a:lstStyle/>
                    <a:p>
                      <a:r>
                        <a:rPr lang="en-IN"/>
                        <a:t>              2022</a:t>
                      </a:r>
                    </a:p>
                  </a:txBody>
                  <a:tcPr/>
                </a:tc>
                <a:extLst>
                  <a:ext uri="{0D108BD9-81ED-4DB2-BD59-A6C34878D82A}">
                    <a16:rowId xmlns:a16="http://schemas.microsoft.com/office/drawing/2014/main" val="3096765922"/>
                  </a:ext>
                </a:extLst>
              </a:tr>
              <a:tr h="850442">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Co-Estimation of State of Charge and State of Health for Lithium-Ion Batteries Using an Enhanced Electrochemical Model.</a:t>
                      </a:r>
                      <a:endParaRPr lang="en-IN" sz="1800" b="0" i="0" u="none" strike="noStrike" noProof="0">
                        <a:solidFill>
                          <a:srgbClr val="000000"/>
                        </a:solidFill>
                        <a:latin typeface="Calibri"/>
                      </a:endParaRPr>
                    </a:p>
                    <a:p>
                      <a:pPr lvl="0">
                        <a:buNone/>
                      </a:pPr>
                      <a:endParaRPr lang="en-IN"/>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Gao, Y., Liu, K., Zhu, C., Zhang, X., &amp; Zhang, D. </a:t>
                      </a:r>
                      <a:endParaRPr lang="en-IN" sz="1800" b="0" i="0" u="none" strike="noStrike" noProof="0">
                        <a:solidFill>
                          <a:srgbClr val="000000"/>
                        </a:solidFill>
                        <a:latin typeface="Calibri"/>
                      </a:endParaRPr>
                    </a:p>
                    <a:p>
                      <a:pPr lvl="0">
                        <a:buNone/>
                      </a:pPr>
                      <a:endParaRPr lang="en-IN"/>
                    </a:p>
                  </a:txBody>
                  <a:tcPr/>
                </a:tc>
                <a:tc>
                  <a:txBody>
                    <a:bodyPr/>
                    <a:lstStyle/>
                    <a:p>
                      <a:r>
                        <a:rPr lang="en-IN"/>
                        <a:t>              2022</a:t>
                      </a:r>
                    </a:p>
                  </a:txBody>
                  <a:tcPr/>
                </a:tc>
                <a:extLst>
                  <a:ext uri="{0D108BD9-81ED-4DB2-BD59-A6C34878D82A}">
                    <a16:rowId xmlns:a16="http://schemas.microsoft.com/office/drawing/2014/main" val="2731465162"/>
                  </a:ext>
                </a:extLst>
              </a:tr>
              <a:tr h="850442">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Lithium Battery Health and Capacity : Estimation Techniques Using Embedded </a:t>
                      </a:r>
                    </a:p>
                    <a:p>
                      <a:pPr lvl="0" algn="l">
                        <a:lnSpc>
                          <a:spcPct val="100000"/>
                        </a:lnSpc>
                        <a:spcBef>
                          <a:spcPts val="0"/>
                        </a:spcBef>
                        <a:spcAft>
                          <a:spcPts val="0"/>
                        </a:spcAft>
                        <a:buNone/>
                      </a:pPr>
                      <a:r>
                        <a:rPr lang="en-US" sz="1800" b="0" i="0" u="none" strike="noStrike" noProof="0">
                          <a:solidFill>
                            <a:srgbClr val="000000"/>
                          </a:solidFill>
                          <a:latin typeface="Calibri"/>
                        </a:rPr>
                        <a:t>Electronics</a:t>
                      </a:r>
                    </a:p>
                    <a:p>
                      <a:pPr lvl="0">
                        <a:buNone/>
                      </a:pPr>
                      <a:endParaRPr lang="en-IN"/>
                    </a:p>
                  </a:txBody>
                  <a:tcPr/>
                </a:tc>
                <a:tc>
                  <a:txBody>
                    <a:bodyPr/>
                    <a:lstStyle/>
                    <a:p>
                      <a:pPr lvl="0">
                        <a:buNone/>
                      </a:pPr>
                      <a:r>
                        <a:rPr lang="en-US" sz="1800" b="0" i="0" u="none" strike="noStrike" noProof="0">
                          <a:solidFill>
                            <a:srgbClr val="000000"/>
                          </a:solidFill>
                          <a:latin typeface="Calibri"/>
                        </a:rPr>
                        <a:t>Derek Heeger, Mike Partridge, Von Trullinger, Dan Wesolowski </a:t>
                      </a:r>
                      <a:endParaRPr lang="en-US"/>
                    </a:p>
                  </a:txBody>
                  <a:tcPr/>
                </a:tc>
                <a:tc>
                  <a:txBody>
                    <a:bodyPr/>
                    <a:lstStyle/>
                    <a:p>
                      <a:r>
                        <a:rPr lang="en-IN"/>
                        <a:t>              2017</a:t>
                      </a:r>
                    </a:p>
                  </a:txBody>
                  <a:tcPr/>
                </a:tc>
                <a:extLst>
                  <a:ext uri="{0D108BD9-81ED-4DB2-BD59-A6C34878D82A}">
                    <a16:rowId xmlns:a16="http://schemas.microsoft.com/office/drawing/2014/main" val="3091893390"/>
                  </a:ext>
                </a:extLst>
              </a:tr>
              <a:tr h="850442">
                <a:tc>
                  <a:txBody>
                    <a:bodyPr/>
                    <a:lstStyle/>
                    <a:p>
                      <a:pPr lvl="0" algn="l">
                        <a:lnSpc>
                          <a:spcPct val="100000"/>
                        </a:lnSpc>
                        <a:spcBef>
                          <a:spcPts val="0"/>
                        </a:spcBef>
                        <a:spcAft>
                          <a:spcPts val="0"/>
                        </a:spcAft>
                        <a:buNone/>
                      </a:pPr>
                      <a:r>
                        <a:rPr lang="en-US" sz="1800" b="0" i="0" u="none" strike="noStrike" noProof="0">
                          <a:solidFill>
                            <a:srgbClr val="333333"/>
                          </a:solidFill>
                          <a:latin typeface="Calibri"/>
                        </a:rPr>
                        <a:t>Practical Broadband Measurement of Battery EIS</a:t>
                      </a:r>
                      <a:r>
                        <a:rPr lang="en-US" sz="2400" b="1" i="0" u="none" strike="noStrike" noProof="0">
                          <a:solidFill>
                            <a:srgbClr val="333333"/>
                          </a:solidFill>
                          <a:latin typeface="Calibri"/>
                        </a:rPr>
                        <a:t> </a:t>
                      </a:r>
                      <a:endParaRPr lang="en-US" sz="2400" b="0" i="0" u="none" strike="noStrike" noProof="0">
                        <a:solidFill>
                          <a:srgbClr val="000000"/>
                        </a:solidFill>
                        <a:latin typeface="Calibri"/>
                      </a:endParaRPr>
                    </a:p>
                    <a:p>
                      <a:pPr lvl="0">
                        <a:buNone/>
                      </a:pPr>
                      <a:endParaRPr lang="en-US" sz="1800" b="0" i="0" u="none" strike="noStrike" noProof="0">
                        <a:solidFill>
                          <a:srgbClr val="000000"/>
                        </a:solidFill>
                        <a:latin typeface="Calibri"/>
                      </a:endParaRPr>
                    </a:p>
                    <a:p>
                      <a:pPr lvl="0">
                        <a:buNone/>
                      </a:pPr>
                      <a:endParaRPr lang="en-IN"/>
                    </a:p>
                  </a:txBody>
                  <a:tcPr/>
                </a:tc>
                <a:tc>
                  <a:txBody>
                    <a:bodyPr/>
                    <a:lstStyle/>
                    <a:p>
                      <a:pPr lvl="0">
                        <a:buNone/>
                      </a:pPr>
                      <a:r>
                        <a:rPr lang="en-US" sz="1800" b="0" i="0" u="none" strike="noStrike" noProof="0">
                          <a:solidFill>
                            <a:srgbClr val="000000"/>
                          </a:solidFill>
                          <a:latin typeface="Calibri"/>
                        </a:rPr>
                        <a:t>Alessio De Angelis, Emanuele </a:t>
                      </a:r>
                      <a:r>
                        <a:rPr lang="en-US" sz="1800" b="0" i="0" u="none" strike="noStrike" noProof="0" err="1">
                          <a:solidFill>
                            <a:srgbClr val="000000"/>
                          </a:solidFill>
                          <a:latin typeface="Calibri"/>
                        </a:rPr>
                        <a:t>Buchicchio</a:t>
                      </a:r>
                      <a:r>
                        <a:rPr lang="en-US" sz="1800" b="0" i="0" u="none" strike="noStrike" noProof="0">
                          <a:solidFill>
                            <a:srgbClr val="000000"/>
                          </a:solidFill>
                          <a:latin typeface="Calibri"/>
                        </a:rPr>
                        <a:t>, Francesco Santoni, Antonio, Paolo Carbone  </a:t>
                      </a:r>
                      <a:endParaRPr lang="en-US"/>
                    </a:p>
                  </a:txBody>
                  <a:tcPr/>
                </a:tc>
                <a:tc>
                  <a:txBody>
                    <a:bodyPr/>
                    <a:lstStyle/>
                    <a:p>
                      <a:r>
                        <a:rPr lang="en-IN"/>
                        <a:t>               2021</a:t>
                      </a:r>
                    </a:p>
                  </a:txBody>
                  <a:tcPr/>
                </a:tc>
                <a:extLst>
                  <a:ext uri="{0D108BD9-81ED-4DB2-BD59-A6C34878D82A}">
                    <a16:rowId xmlns:a16="http://schemas.microsoft.com/office/drawing/2014/main" val="3796365875"/>
                  </a:ext>
                </a:extLst>
              </a:tr>
            </a:tbl>
          </a:graphicData>
        </a:graphic>
      </p:graphicFrame>
    </p:spTree>
    <p:extLst>
      <p:ext uri="{BB962C8B-B14F-4D97-AF65-F5344CB8AC3E}">
        <p14:creationId xmlns:p14="http://schemas.microsoft.com/office/powerpoint/2010/main" val="1081376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0C6B5-C672-E227-FC4E-7D9EC2224F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2ED447-DD00-C2A7-CCDF-F29ABE469E6E}"/>
              </a:ext>
            </a:extLst>
          </p:cNvPr>
          <p:cNvSpPr>
            <a:spLocks noGrp="1"/>
          </p:cNvSpPr>
          <p:nvPr>
            <p:ph idx="1"/>
          </p:nvPr>
        </p:nvSpPr>
        <p:spPr>
          <a:xfrm>
            <a:off x="206126" y="1470689"/>
            <a:ext cx="11821500" cy="4874247"/>
          </a:xfrm>
        </p:spPr>
        <p:txBody>
          <a:bodyPr vert="horz" lIns="91440" tIns="45720" rIns="91440" bIns="45720" rtlCol="0" anchor="t">
            <a:noAutofit/>
          </a:bodyPr>
          <a:lstStyle/>
          <a:p>
            <a:pPr marL="342900" indent="-342900">
              <a:buAutoNum type="arabicPeriod"/>
            </a:pPr>
            <a:r>
              <a:rPr lang="en-IN" sz="1600">
                <a:latin typeface="Times New Roman"/>
                <a:cs typeface="Times New Roman"/>
              </a:rPr>
              <a:t>Natella, D., Onori, S., &amp; </a:t>
            </a:r>
            <a:r>
              <a:rPr lang="en-IN" sz="1600" err="1">
                <a:latin typeface="Times New Roman"/>
                <a:cs typeface="Times New Roman"/>
              </a:rPr>
              <a:t>Vasca</a:t>
            </a:r>
            <a:r>
              <a:rPr lang="en-IN" sz="1600">
                <a:latin typeface="Times New Roman"/>
                <a:cs typeface="Times New Roman"/>
              </a:rPr>
              <a:t>, F. (2022). A co-estimation framework for state of charge and parameters of lithium-ion battery with robustness to aging and usage conditions. </a:t>
            </a:r>
            <a:r>
              <a:rPr lang="en-IN" sz="1600" i="1">
                <a:latin typeface="Times New Roman"/>
                <a:cs typeface="Times New Roman"/>
              </a:rPr>
              <a:t>IEEE Transactions on Industrial Electronics, 69</a:t>
            </a:r>
            <a:r>
              <a:rPr lang="en-IN" sz="1600">
                <a:latin typeface="Times New Roman"/>
                <a:cs typeface="Times New Roman"/>
              </a:rPr>
              <a:t>(12), 12489–12499. </a:t>
            </a:r>
            <a:r>
              <a:rPr lang="en-US" sz="1600">
                <a:solidFill>
                  <a:schemeClr val="accent1">
                    <a:lumMod val="76000"/>
                  </a:schemeClr>
                </a:solidFill>
                <a:latin typeface="Times New Roman"/>
                <a:cs typeface="Times New Roman"/>
                <a:hlinkClick r:id="rId3">
                  <a:extLst>
                    <a:ext uri="{A12FA001-AC4F-418D-AE19-62706E023703}">
                      <ahyp:hlinkClr xmlns:ahyp="http://schemas.microsoft.com/office/drawing/2018/hyperlinkcolor" val="tx"/>
                    </a:ext>
                  </a:extLst>
                </a:hlinkClick>
              </a:rPr>
              <a:t>https://ieeexplore.ieee.org/document/9856595/authors#authors</a:t>
            </a:r>
            <a:endParaRPr lang="en-US" sz="1600">
              <a:solidFill>
                <a:schemeClr val="accent1">
                  <a:lumMod val="76000"/>
                </a:schemeClr>
              </a:solidFill>
              <a:latin typeface="Times New Roman"/>
              <a:cs typeface="Times New Roman"/>
            </a:endParaRPr>
          </a:p>
          <a:p>
            <a:pPr marL="342900" indent="-342900">
              <a:buAutoNum type="arabicPeriod"/>
            </a:pPr>
            <a:r>
              <a:rPr lang="en-US" sz="1600">
                <a:latin typeface="Times New Roman"/>
                <a:cs typeface="Times New Roman"/>
              </a:rPr>
              <a:t>Lai, X., Yuan, M., Tang, X., Yao, Y., Weng, J., Gao, F., Ma, W., &amp; Zheng, Y. (2021). Co-estimation of state of charge and state of health for lithium-ion batteries using an enhanced electrochemical model. </a:t>
            </a:r>
            <a:r>
              <a:rPr lang="en-US" sz="1600" i="1">
                <a:latin typeface="Times New Roman"/>
                <a:cs typeface="Times New Roman"/>
              </a:rPr>
              <a:t>IEEE Transactions on Power Electronics, 36</a:t>
            </a:r>
            <a:r>
              <a:rPr lang="en-US" sz="1600">
                <a:latin typeface="Times New Roman"/>
                <a:cs typeface="Times New Roman"/>
              </a:rPr>
              <a:t>(6), 6302–6313. </a:t>
            </a:r>
            <a:r>
              <a:rPr lang="en-US" sz="1600">
                <a:solidFill>
                  <a:schemeClr val="accent1">
                    <a:lumMod val="76000"/>
                  </a:schemeClr>
                </a:solidFill>
                <a:latin typeface="Times New Roman"/>
                <a:cs typeface="Times New Roman"/>
                <a:hlinkClick r:id="rId4">
                  <a:extLst>
                    <a:ext uri="{A12FA001-AC4F-418D-AE19-62706E023703}">
                      <ahyp:hlinkClr xmlns:ahyp="http://schemas.microsoft.com/office/drawing/2018/hyperlinkcolor" val="tx"/>
                    </a:ext>
                  </a:extLst>
                </a:hlinkClick>
              </a:rPr>
              <a:t>https://ieeexplore.ieee.org/document/9384220</a:t>
            </a:r>
          </a:p>
          <a:p>
            <a:pPr marL="342900" indent="-342900">
              <a:buAutoNum type="arabicPeriod"/>
            </a:pPr>
            <a:r>
              <a:rPr lang="en-US" sz="1600">
                <a:latin typeface="Times New Roman"/>
                <a:cs typeface="Times New Roman"/>
              </a:rPr>
              <a:t>Heeger, D., Partridge, M., Trullinger, V., &amp; Wesolowski, D. (2017). </a:t>
            </a:r>
            <a:r>
              <a:rPr lang="en-US" sz="1600" i="1">
                <a:latin typeface="Times New Roman"/>
                <a:cs typeface="Times New Roman"/>
              </a:rPr>
              <a:t>Lithium battery health and capacity: Estimation techniques using embedded electronics</a:t>
            </a:r>
            <a:r>
              <a:rPr lang="en-US" sz="1600">
                <a:latin typeface="Times New Roman"/>
                <a:cs typeface="Times New Roman"/>
              </a:rPr>
              <a:t> (SAND2017-10722). Sandia National Laboratories.                                            </a:t>
            </a:r>
            <a:r>
              <a:rPr lang="en-US" sz="1600">
                <a:solidFill>
                  <a:schemeClr val="accent1">
                    <a:lumMod val="76000"/>
                  </a:schemeClr>
                </a:solidFill>
                <a:latin typeface="Times New Roman"/>
                <a:cs typeface="Times New Roman"/>
              </a:rPr>
              <a:t> </a:t>
            </a:r>
            <a:r>
              <a:rPr lang="en-US" sz="1600">
                <a:solidFill>
                  <a:schemeClr val="accent1">
                    <a:lumMod val="76000"/>
                  </a:schemeClr>
                </a:solidFill>
                <a:latin typeface="Times New Roman"/>
                <a:cs typeface="Times New Roman"/>
                <a:hlinkClick r:id="rId5">
                  <a:extLst>
                    <a:ext uri="{A12FA001-AC4F-418D-AE19-62706E023703}">
                      <ahyp:hlinkClr xmlns:ahyp="http://schemas.microsoft.com/office/drawing/2018/hyperlinkcolor" val="tx"/>
                    </a:ext>
                  </a:extLst>
                </a:hlinkClick>
              </a:rPr>
              <a:t>https://www.osti.gov/servlets/purl/1596204</a:t>
            </a:r>
            <a:endParaRPr lang="en-US" sz="1600">
              <a:solidFill>
                <a:schemeClr val="accent1">
                  <a:lumMod val="76000"/>
                </a:schemeClr>
              </a:solidFill>
              <a:latin typeface="Times New Roman"/>
              <a:cs typeface="Times New Roman"/>
            </a:endParaRPr>
          </a:p>
          <a:p>
            <a:pPr marL="342900" indent="-342900">
              <a:buAutoNum type="arabicPeriod"/>
            </a:pPr>
            <a:r>
              <a:rPr lang="en-US" sz="1600">
                <a:latin typeface="Times New Roman"/>
                <a:cs typeface="Times New Roman"/>
              </a:rPr>
              <a:t>De Angelis, A., Carbone, P., Moschitta, A., Crescentini, M., </a:t>
            </a:r>
            <a:r>
              <a:rPr lang="en-US" sz="1600" err="1">
                <a:latin typeface="Times New Roman"/>
                <a:cs typeface="Times New Roman"/>
              </a:rPr>
              <a:t>Ramilli</a:t>
            </a:r>
            <a:r>
              <a:rPr lang="en-US" sz="1600">
                <a:latin typeface="Times New Roman"/>
                <a:cs typeface="Times New Roman"/>
              </a:rPr>
              <a:t>, R., &amp; Traverso, P. A. (2021). Practical broadband measurement of battery EIS. </a:t>
            </a:r>
            <a:r>
              <a:rPr lang="en-US" sz="1600" i="1">
                <a:latin typeface="Times New Roman"/>
                <a:cs typeface="Times New Roman"/>
              </a:rPr>
              <a:t>IEEE Transactions on Instrumentation and Measurement, 70</a:t>
            </a:r>
            <a:r>
              <a:rPr lang="en-US" sz="1600">
                <a:latin typeface="Times New Roman"/>
                <a:cs typeface="Times New Roman"/>
              </a:rPr>
              <a:t>, 1–10.                              </a:t>
            </a:r>
            <a:r>
              <a:rPr lang="en-US" sz="1600">
                <a:solidFill>
                  <a:schemeClr val="accent1">
                    <a:lumMod val="76000"/>
                  </a:schemeClr>
                </a:solidFill>
                <a:latin typeface="Times New Roman"/>
                <a:cs typeface="Times New Roman"/>
                <a:hlinkClick r:id="rId6">
                  <a:extLst>
                    <a:ext uri="{A12FA001-AC4F-418D-AE19-62706E023703}">
                      <ahyp:hlinkClr xmlns:ahyp="http://schemas.microsoft.com/office/drawing/2018/hyperlinkcolor" val="tx"/>
                    </a:ext>
                  </a:extLst>
                </a:hlinkClick>
              </a:rPr>
              <a:t>https://ieeexplore.ieee.org/document/9502889</a:t>
            </a:r>
            <a:endParaRPr lang="en-US" sz="1600">
              <a:solidFill>
                <a:schemeClr val="accent1">
                  <a:lumMod val="76000"/>
                </a:schemeClr>
              </a:solidFill>
            </a:endParaRPr>
          </a:p>
          <a:p>
            <a:pPr marL="342900" indent="-342900">
              <a:buAutoNum type="arabicPeriod"/>
            </a:pPr>
            <a:r>
              <a:rPr lang="en-US" sz="1400">
                <a:latin typeface="Bookman Old Style"/>
                <a:cs typeface="Times New Roman"/>
              </a:rPr>
              <a:t>Sun, Y., Smith, K., &amp; Mohan, A. (2025). </a:t>
            </a:r>
            <a:r>
              <a:rPr lang="en-US" sz="1600" i="1">
                <a:latin typeface="Bookman Old Style"/>
                <a:cs typeface="Times New Roman"/>
              </a:rPr>
              <a:t>Evaluating </a:t>
            </a:r>
            <a:r>
              <a:rPr lang="en-US" sz="1400" i="1">
                <a:latin typeface="Bookman Old Style"/>
                <a:cs typeface="Times New Roman"/>
              </a:rPr>
              <a:t>the use of rapid DC pulses for diagnosing lithium-ion batteries</a:t>
            </a:r>
            <a:r>
              <a:rPr lang="en-US" sz="1400">
                <a:latin typeface="Bookman Old Style"/>
                <a:cs typeface="Times New Roman"/>
              </a:rPr>
              <a:t> (NREL/TP-5400-XXXX). National Renewable Energy Laboratory.                                                </a:t>
            </a:r>
            <a:r>
              <a:rPr lang="en-US" sz="1400">
                <a:solidFill>
                  <a:schemeClr val="accent1">
                    <a:lumMod val="76000"/>
                  </a:schemeClr>
                </a:solidFill>
                <a:latin typeface="Bookman Old Style"/>
                <a:cs typeface="Times New Roman"/>
                <a:hlinkClick r:id="rId7">
                  <a:extLst>
                    <a:ext uri="{A12FA001-AC4F-418D-AE19-62706E023703}">
                      <ahyp:hlinkClr xmlns:ahyp="http://schemas.microsoft.com/office/drawing/2018/hyperlinkcolor" val="tx"/>
                    </a:ext>
                  </a:extLst>
                </a:hlinkClick>
              </a:rPr>
              <a:t>https://docs.nrel.gov/docs/fy25osti/92155.pdf</a:t>
            </a:r>
            <a:endParaRPr lang="en-US" sz="1400">
              <a:solidFill>
                <a:schemeClr val="accent1">
                  <a:lumMod val="76000"/>
                </a:schemeClr>
              </a:solidFill>
              <a:latin typeface="Times New Roman"/>
              <a:cs typeface="Times New Roman"/>
              <a:hlinkClick r:id="rId7">
                <a:extLst>
                  <a:ext uri="{A12FA001-AC4F-418D-AE19-62706E023703}">
                    <ahyp:hlinkClr xmlns:ahyp="http://schemas.microsoft.com/office/drawing/2018/hyperlinkcolor" val="tx"/>
                  </a:ext>
                </a:extLst>
              </a:hlinkClick>
            </a:endParaRPr>
          </a:p>
          <a:p>
            <a:pPr marL="342900" indent="-342900">
              <a:buAutoNum type="arabicPeriod"/>
            </a:pPr>
            <a:r>
              <a:rPr lang="en-US" sz="1400">
                <a:latin typeface="Bookman Old Style"/>
                <a:cs typeface="Times New Roman"/>
              </a:rPr>
              <a:t>Lam, D. H. C., &amp; Lim, Y. S. (2022). State of charge, state of health, and degradation estimation for second-life batteries for maximum demand reductions. </a:t>
            </a:r>
            <a:r>
              <a:rPr lang="en-US" sz="1400" i="1">
                <a:latin typeface="Bookman Old Style"/>
                <a:cs typeface="Times New Roman"/>
              </a:rPr>
              <a:t>IEEE Access, 10</a:t>
            </a:r>
            <a:r>
              <a:rPr lang="en-US" sz="1400">
                <a:latin typeface="Bookman Old Style"/>
                <a:cs typeface="Times New Roman"/>
              </a:rPr>
              <a:t>, 133771–133782.                         </a:t>
            </a:r>
            <a:r>
              <a:rPr lang="en-US" sz="1400">
                <a:solidFill>
                  <a:schemeClr val="accent1">
                    <a:lumMod val="76000"/>
                  </a:schemeClr>
                </a:solidFill>
                <a:latin typeface="Bookman Old Style"/>
                <a:cs typeface="Times New Roman"/>
              </a:rPr>
              <a:t> </a:t>
            </a:r>
            <a:r>
              <a:rPr lang="en-US" sz="1400">
                <a:solidFill>
                  <a:schemeClr val="accent1">
                    <a:lumMod val="76000"/>
                  </a:schemeClr>
                </a:solidFill>
                <a:latin typeface="Bookman Old Style"/>
                <a:cs typeface="Times New Roman"/>
                <a:hlinkClick r:id="rId8">
                  <a:extLst>
                    <a:ext uri="{A12FA001-AC4F-418D-AE19-62706E023703}">
                      <ahyp:hlinkClr xmlns:ahyp="http://schemas.microsoft.com/office/drawing/2018/hyperlinkcolor" val="tx"/>
                    </a:ext>
                  </a:extLst>
                </a:hlinkClick>
              </a:rPr>
              <a:t>https://ieeexplore.ieee.org/document/9988844</a:t>
            </a:r>
          </a:p>
          <a:p>
            <a:pPr marL="0" indent="0">
              <a:buNone/>
            </a:pPr>
            <a:endParaRPr lang="en-US" sz="1400">
              <a:solidFill>
                <a:schemeClr val="accent1">
                  <a:lumMod val="76000"/>
                </a:schemeClr>
              </a:solidFill>
              <a:latin typeface="Bookman Old Style"/>
              <a:cs typeface="Times New Roman"/>
            </a:endParaRPr>
          </a:p>
        </p:txBody>
      </p:sp>
      <p:sp>
        <p:nvSpPr>
          <p:cNvPr id="4" name="Slide Number Placeholder 3">
            <a:extLst>
              <a:ext uri="{FF2B5EF4-FFF2-40B4-BE49-F238E27FC236}">
                <a16:creationId xmlns:a16="http://schemas.microsoft.com/office/drawing/2014/main" id="{BA57FD74-7952-42B1-578A-05AE776DA722}"/>
              </a:ext>
            </a:extLst>
          </p:cNvPr>
          <p:cNvSpPr>
            <a:spLocks noGrp="1"/>
          </p:cNvSpPr>
          <p:nvPr>
            <p:ph type="sldNum" sz="quarter" idx="12"/>
          </p:nvPr>
        </p:nvSpPr>
        <p:spPr/>
        <p:txBody>
          <a:bodyPr/>
          <a:lstStyle/>
          <a:p>
            <a:fld id="{9BA15CD2-76D6-4EFE-91D9-7087332E3318}" type="slidenum">
              <a:rPr lang="en-IN" smtClean="0"/>
              <a:pPr/>
              <a:t>14</a:t>
            </a:fld>
            <a:endParaRPr lang="en-IN"/>
          </a:p>
        </p:txBody>
      </p:sp>
      <p:sp>
        <p:nvSpPr>
          <p:cNvPr id="5" name="Title 1">
            <a:extLst>
              <a:ext uri="{FF2B5EF4-FFF2-40B4-BE49-F238E27FC236}">
                <a16:creationId xmlns:a16="http://schemas.microsoft.com/office/drawing/2014/main" id="{73228F12-3B9A-26A7-F7C0-5EF1AC3187FD}"/>
              </a:ext>
            </a:extLst>
          </p:cNvPr>
          <p:cNvSpPr txBox="1">
            <a:spLocks/>
          </p:cNvSpPr>
          <p:nvPr/>
        </p:nvSpPr>
        <p:spPr>
          <a:xfrm>
            <a:off x="2023105" y="156556"/>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a:latin typeface="Times New Roman"/>
                <a:cs typeface="Times New Roman"/>
              </a:rPr>
              <a:t>REFERENCES</a:t>
            </a:r>
            <a:endParaRPr lang="en-IN" sz="40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FFE44D2-2BBF-846A-F7A3-BB3A50A6B92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41125"/>
            <a:ext cx="2362530" cy="1076475"/>
          </a:xfrm>
          <a:prstGeom prst="rect">
            <a:avLst/>
          </a:prstGeom>
        </p:spPr>
      </p:pic>
      <p:pic>
        <p:nvPicPr>
          <p:cNvPr id="7" name="Picture 6">
            <a:extLst>
              <a:ext uri="{FF2B5EF4-FFF2-40B4-BE49-F238E27FC236}">
                <a16:creationId xmlns:a16="http://schemas.microsoft.com/office/drawing/2014/main" id="{58FA88F0-4659-BCC6-DDF9-30D8162A5C8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483376" y="515844"/>
            <a:ext cx="2324424" cy="438211"/>
          </a:xfrm>
          <a:prstGeom prst="rect">
            <a:avLst/>
          </a:prstGeom>
        </p:spPr>
      </p:pic>
    </p:spTree>
    <p:extLst>
      <p:ext uri="{BB962C8B-B14F-4D97-AF65-F5344CB8AC3E}">
        <p14:creationId xmlns:p14="http://schemas.microsoft.com/office/powerpoint/2010/main" val="434173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7BC478-F0AA-1301-724C-04C081C8A3CB}"/>
              </a:ext>
            </a:extLst>
          </p:cNvPr>
          <p:cNvSpPr>
            <a:spLocks noGrp="1"/>
          </p:cNvSpPr>
          <p:nvPr>
            <p:ph type="sldNum" sz="quarter" idx="12"/>
          </p:nvPr>
        </p:nvSpPr>
        <p:spPr/>
        <p:txBody>
          <a:bodyPr/>
          <a:lstStyle/>
          <a:p>
            <a:fld id="{9BA15CD2-76D6-4EFE-91D9-7087332E3318}" type="slidenum">
              <a:rPr lang="en-IN" smtClean="0"/>
              <a:pPr/>
              <a:t>15</a:t>
            </a:fld>
            <a:endParaRPr lang="en-IN"/>
          </a:p>
        </p:txBody>
      </p:sp>
      <p:pic>
        <p:nvPicPr>
          <p:cNvPr id="5" name="Picture 4">
            <a:extLst>
              <a:ext uri="{FF2B5EF4-FFF2-40B4-BE49-F238E27FC236}">
                <a16:creationId xmlns:a16="http://schemas.microsoft.com/office/drawing/2014/main" id="{96390A6D-369A-D728-5F7B-C3DF82DD90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60661" y="1605963"/>
            <a:ext cx="5889812" cy="3646074"/>
          </a:xfrm>
          <a:prstGeom prst="rect">
            <a:avLst/>
          </a:prstGeom>
        </p:spPr>
      </p:pic>
      <p:pic>
        <p:nvPicPr>
          <p:cNvPr id="2" name="Picture 1">
            <a:extLst>
              <a:ext uri="{FF2B5EF4-FFF2-40B4-BE49-F238E27FC236}">
                <a16:creationId xmlns:a16="http://schemas.microsoft.com/office/drawing/2014/main" id="{D981E907-7D8C-142F-BCA1-D62771454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362530" cy="1076475"/>
          </a:xfrm>
          <a:prstGeom prst="rect">
            <a:avLst/>
          </a:prstGeom>
        </p:spPr>
      </p:pic>
      <p:pic>
        <p:nvPicPr>
          <p:cNvPr id="6" name="Picture 5">
            <a:extLst>
              <a:ext uri="{FF2B5EF4-FFF2-40B4-BE49-F238E27FC236}">
                <a16:creationId xmlns:a16="http://schemas.microsoft.com/office/drawing/2014/main" id="{5B125672-2722-BCBF-2482-1F6703CF1E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3376" y="515844"/>
            <a:ext cx="2324424" cy="438211"/>
          </a:xfrm>
          <a:prstGeom prst="rect">
            <a:avLst/>
          </a:prstGeom>
        </p:spPr>
      </p:pic>
    </p:spTree>
    <p:extLst>
      <p:ext uri="{BB962C8B-B14F-4D97-AF65-F5344CB8AC3E}">
        <p14:creationId xmlns:p14="http://schemas.microsoft.com/office/powerpoint/2010/main" val="1253120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3</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revision>29</cp:revision>
  <cp:lastPrinted>2024-02-20T07:16:26Z</cp:lastPrinted>
  <dcterms:created xsi:type="dcterms:W3CDTF">2021-06-02T13:10:21Z</dcterms:created>
  <dcterms:modified xsi:type="dcterms:W3CDTF">2026-07-06T16:31:11Z</dcterms:modified>
</cp:coreProperties>
</file>